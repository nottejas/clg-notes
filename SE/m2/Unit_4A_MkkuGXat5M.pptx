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jpeg" ContentType="image/jpeg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6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notesSlides/_rels/notesSlide20.xml.rels" ContentType="application/vnd.openxmlformats-package.relationships+xml"/>
  <Override PartName="/ppt/notesSlides/notesSlide20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41B411F5-CD38-49F4-9E8A-DD22C0069A24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D5F8A48-1E6D-46CC-8D9D-407B1289368A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A6FC3C-47BD-4DBC-83AB-E51C218184F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6C01EAA-B498-42D1-A755-7A73DEDE702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15EE1D07-3486-4850-A269-0424EF39F43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EDAA001B-DD70-4FC2-9C59-B9E754A73EF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3035729A-DB40-4481-80B3-B68E469449A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1D0088B0-6DC5-490A-8537-93F7DE7C1D4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4FB9D173-13E7-43FF-9ACF-E3080727425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39597651-3919-4629-B8C8-4799AADD1B5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6504DB3E-5BDC-43B6-8151-554F07D8E6A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745BDE25-AF96-4120-BC36-33FE6BABD3F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8E363999-D686-44CC-8584-9869292BF11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D9792B3-4A83-4725-B176-1ABC7DF7EE9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10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FAFBB72-6E6A-4481-90F9-FA8F5B60489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71BE0B9-B987-4977-867D-0CFE83E25A0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C2F96CD-1CB9-4894-A507-2890EA0F1E7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D97E814-66DB-4087-82FF-0F7D0E015A0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9621CBE-CACA-48E4-BDC8-FB98994230D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7F86C87-36A7-4A56-9676-8D0FD78EB48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5EE70CA-E783-41EC-BDF6-BDCCBD77D89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D420A0F-5EF5-4970-888C-7366DC65C71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66385DA-042C-4C9E-888E-B43BB8FBD2B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BA48694-DC45-4999-9A23-ACFFE72B2F2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2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IN" sz="4400" spc="-1" strike="noStrike">
                <a:solidFill>
                  <a:schemeClr val="dk1"/>
                </a:solidFill>
                <a:latin typeface="Calibri"/>
              </a:rPr>
              <a:t>Unit 4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IN" sz="3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Requirement Analysis &amp; Design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Box 1"/>
          <p:cNvSpPr/>
          <p:nvPr/>
        </p:nvSpPr>
        <p:spPr>
          <a:xfrm>
            <a:off x="533520" y="533520"/>
            <a:ext cx="8229240" cy="435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3200" spc="-1" strike="noStrike">
                <a:solidFill>
                  <a:srgbClr val="ff0000"/>
                </a:solidFill>
                <a:latin typeface="Calibri"/>
              </a:rPr>
              <a:t>REQUIREMENT ENGINEERING TASKS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5" marL="914400" indent="-514440" defTabSz="914400">
              <a:lnSpc>
                <a:spcPct val="100000"/>
              </a:lnSpc>
              <a:buClr>
                <a:srgbClr val="000000"/>
              </a:buClr>
              <a:buFont typeface="Calibri"/>
              <a:buAutoNum type="arabicPeriod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Inception       : Basic Understanding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5" marL="914400" indent="-514440" defTabSz="914400">
              <a:lnSpc>
                <a:spcPct val="100000"/>
              </a:lnSpc>
              <a:buClr>
                <a:srgbClr val="000000"/>
              </a:buClr>
              <a:buFont typeface="Calibri"/>
              <a:buAutoNum type="arabicPeriod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Elicitation      : Clear Understanding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5" marL="914400" indent="-514440" defTabSz="914400">
              <a:lnSpc>
                <a:spcPct val="100000"/>
              </a:lnSpc>
              <a:buClr>
                <a:srgbClr val="000000"/>
              </a:buClr>
              <a:buFont typeface="Calibri"/>
              <a:buAutoNum type="arabicPeriod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Elaboration   : Refinement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5" marL="914400" indent="-514440" defTabSz="914400">
              <a:lnSpc>
                <a:spcPct val="100000"/>
              </a:lnSpc>
              <a:buClr>
                <a:srgbClr val="000000"/>
              </a:buClr>
              <a:buFont typeface="Calibri"/>
              <a:buAutoNum type="arabicPeriod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Negotiation   : Settlement of Conflicts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5" marL="914400" indent="-514440" defTabSz="914400">
              <a:lnSpc>
                <a:spcPct val="100000"/>
              </a:lnSpc>
              <a:buClr>
                <a:srgbClr val="000000"/>
              </a:buClr>
              <a:buFont typeface="Calibri"/>
              <a:buAutoNum type="arabicPeriod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Specification  : SRS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5" marL="914400" indent="-514440" defTabSz="914400">
              <a:lnSpc>
                <a:spcPct val="100000"/>
              </a:lnSpc>
              <a:buClr>
                <a:srgbClr val="000000"/>
              </a:buClr>
              <a:buFont typeface="Calibri"/>
              <a:buAutoNum type="arabicPeriod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Validation       :</a:t>
            </a:r>
            <a:r>
              <a:rPr b="0" lang="en-IN" sz="2000" spc="-1" strike="noStrike">
                <a:solidFill>
                  <a:srgbClr val="040c28"/>
                </a:solidFill>
                <a:latin typeface="Google Sans"/>
              </a:rPr>
              <a:t>Formal Technical Review</a:t>
            </a:r>
            <a:r>
              <a:rPr b="0" lang="en-IN" sz="2400" spc="-1" strike="noStrike">
                <a:solidFill>
                  <a:srgbClr val="040c28"/>
                </a:solidFill>
                <a:latin typeface="Google Sans"/>
              </a:rPr>
              <a:t>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Team Validates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5" marL="914400" indent="-514440" defTabSz="914400">
              <a:lnSpc>
                <a:spcPct val="100000"/>
              </a:lnSpc>
              <a:buClr>
                <a:srgbClr val="000000"/>
              </a:buClr>
              <a:buFont typeface="Calibri"/>
              <a:buAutoNum type="arabicPeriod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Management : Changed Reqt. Mgmt.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Box 1"/>
          <p:cNvSpPr/>
          <p:nvPr/>
        </p:nvSpPr>
        <p:spPr>
          <a:xfrm>
            <a:off x="609480" y="152280"/>
            <a:ext cx="8000640" cy="786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3000" spc="-1" strike="noStrike">
                <a:solidFill>
                  <a:srgbClr val="ff0000"/>
                </a:solidFill>
                <a:latin typeface="Calibri"/>
              </a:rPr>
              <a:t>INCEPTION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3000" spc="-1" strike="noStrike">
                <a:solidFill>
                  <a:srgbClr val="ff0000"/>
                </a:solidFill>
                <a:latin typeface="Calibri"/>
              </a:rPr>
              <a:t>INITIATING THE REQUIREMENT ENGG. PROCESS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3000" spc="-1" strike="noStrike">
                <a:solidFill>
                  <a:srgbClr val="002060"/>
                </a:solidFill>
                <a:latin typeface="Calibri"/>
              </a:rPr>
              <a:t>How Requirements are originated?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lvl="2" marL="9144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0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3000" spc="-1" strike="noStrike">
                <a:solidFill>
                  <a:schemeClr val="dk1"/>
                </a:solidFill>
                <a:latin typeface="Calibri"/>
              </a:rPr>
              <a:t>Business Need is identified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lvl="2" marL="9144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0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3000" spc="-1" strike="noStrike">
                <a:solidFill>
                  <a:schemeClr val="dk1"/>
                </a:solidFill>
                <a:latin typeface="Calibri"/>
              </a:rPr>
              <a:t>New market or service is discovered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lvl="2" marL="9144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0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3000" spc="-1" strike="noStrike">
                <a:solidFill>
                  <a:schemeClr val="dk1"/>
                </a:solidFill>
                <a:latin typeface="Calibri"/>
              </a:rPr>
              <a:t>Working description of the project 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</a:pP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3000" spc="-1" strike="noStrike">
                <a:solidFill>
                  <a:schemeClr val="dk1"/>
                </a:solidFill>
                <a:latin typeface="Calibri"/>
              </a:rPr>
              <a:t>Steps to initiate Requirement Engineering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lvl="2" marL="1428840" indent="-514440" defTabSz="914400">
              <a:lnSpc>
                <a:spcPct val="100000"/>
              </a:lnSpc>
              <a:buClr>
                <a:srgbClr val="000000"/>
              </a:buClr>
              <a:buFont typeface="Calibri"/>
              <a:buAutoNum type="arabicPeriod"/>
            </a:pPr>
            <a:r>
              <a:rPr b="0" lang="en-US" sz="3000" spc="-1" strike="noStrike">
                <a:solidFill>
                  <a:schemeClr val="dk1"/>
                </a:solidFill>
                <a:latin typeface="Calibri"/>
              </a:rPr>
              <a:t>Identifying the stakeholders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lvl="2" marL="1428840" indent="-514440" defTabSz="914400">
              <a:lnSpc>
                <a:spcPct val="100000"/>
              </a:lnSpc>
              <a:buClr>
                <a:srgbClr val="000000"/>
              </a:buClr>
              <a:buFont typeface="Calibri"/>
              <a:buAutoNum type="arabicPeriod"/>
            </a:pPr>
            <a:r>
              <a:rPr b="0" lang="en-US" sz="3000" spc="-1" strike="noStrike">
                <a:solidFill>
                  <a:schemeClr val="dk1"/>
                </a:solidFill>
                <a:latin typeface="Calibri"/>
              </a:rPr>
              <a:t>Recognizing multiple view points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lvl="2" marL="1428840" indent="-514440" defTabSz="914400">
              <a:lnSpc>
                <a:spcPct val="100000"/>
              </a:lnSpc>
              <a:buClr>
                <a:srgbClr val="000000"/>
              </a:buClr>
              <a:buFont typeface="Calibri"/>
              <a:buAutoNum type="arabicPeriod"/>
            </a:pPr>
            <a:r>
              <a:rPr b="0" lang="en-US" sz="3000" spc="-1" strike="noStrike">
                <a:solidFill>
                  <a:schemeClr val="dk1"/>
                </a:solidFill>
                <a:latin typeface="Calibri"/>
              </a:rPr>
              <a:t>Working towards collaboration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lvl="2" marL="1428840" indent="-514440" defTabSz="914400">
              <a:lnSpc>
                <a:spcPct val="100000"/>
              </a:lnSpc>
              <a:buClr>
                <a:srgbClr val="000000"/>
              </a:buClr>
              <a:buFont typeface="Calibri"/>
              <a:buAutoNum type="arabicPeriod"/>
            </a:pPr>
            <a:r>
              <a:rPr b="0" lang="en-US" sz="3000" spc="-1" strike="noStrike">
                <a:solidFill>
                  <a:schemeClr val="dk1"/>
                </a:solidFill>
                <a:latin typeface="Calibri"/>
              </a:rPr>
              <a:t>Asking the first questions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1"/>
          <p:cNvSpPr/>
          <p:nvPr/>
        </p:nvSpPr>
        <p:spPr>
          <a:xfrm>
            <a:off x="609480" y="685800"/>
            <a:ext cx="8305560" cy="713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428840" indent="-514440"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ff0000"/>
                </a:solidFill>
                <a:latin typeface="Calibri"/>
              </a:rPr>
              <a:t>Identifying the stakeholders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0000"/>
                </a:solidFill>
                <a:latin typeface="Calibri"/>
              </a:rPr>
              <a:t>Stakeholder :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9144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Anyone who gets benefited directly or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914400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 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indirectly from the system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914400" defTabSz="914400"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9144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Stakeholders can be Business operations  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914400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Managers, Product managers, Marketing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914400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people, Internal or External Customers,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914400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End-users, Consultants, Product Engineers,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914400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Software Engineers, Support &amp;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914400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Maintenance Engineers and many others 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914400" defTabSz="914400"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9144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At inception, the requirement engineer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914400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prepares a list of people who will contribute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914400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input as requirements are elicited.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	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  <a:tabLst>
                <a:tab algn="l" pos="0"/>
              </a:tabLst>
            </a:pP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Box 1"/>
          <p:cNvSpPr/>
          <p:nvPr/>
        </p:nvSpPr>
        <p:spPr>
          <a:xfrm>
            <a:off x="609480" y="685800"/>
            <a:ext cx="8305560" cy="603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428840" indent="-514440"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ff0000"/>
                </a:solidFill>
                <a:latin typeface="Calibri"/>
              </a:rPr>
              <a:t>Recognizing multiple view points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0000"/>
                </a:solidFill>
                <a:latin typeface="Calibri"/>
              </a:rPr>
              <a:t> 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lvl="2" marL="9144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0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Each stakeholder explores the system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914400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 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requirements from his point of view.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914400" defTabSz="914400"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9144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As information from multiple view point is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914400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 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collected, emerging requirements may be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914400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 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inconsistent or conflicting.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914400" defTabSz="914400"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9144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Categorize the information collected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  <a:tabLst>
                <a:tab algn="l" pos="0"/>
              </a:tabLst>
            </a:pP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Box 1"/>
          <p:cNvSpPr/>
          <p:nvPr/>
        </p:nvSpPr>
        <p:spPr>
          <a:xfrm>
            <a:off x="609480" y="685800"/>
            <a:ext cx="8305560" cy="673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428840" indent="-514440"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ff0000"/>
                </a:solidFill>
                <a:latin typeface="Calibri"/>
              </a:rPr>
              <a:t>Working Towards Collaboration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0000"/>
                </a:solidFill>
                <a:latin typeface="Calibri"/>
              </a:rPr>
              <a:t> 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lvl="2" marL="9144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Customers and other stakeholders should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914400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 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collaborate among themselves and software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914400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 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engineering practitioners for the success of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914400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 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the project.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914400" defTabSz="914400">
              <a:lnSpc>
                <a:spcPct val="100000"/>
              </a:lnSpc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9144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Requirements are to be sorted out as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914400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commonly agreed and inconsistent or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914400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conflicting  requirements.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  <a:tabLst>
                <a:tab algn="l" pos="0"/>
              </a:tabLst>
            </a:pP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Box 1"/>
          <p:cNvSpPr/>
          <p:nvPr/>
        </p:nvSpPr>
        <p:spPr>
          <a:xfrm>
            <a:off x="609480" y="685800"/>
            <a:ext cx="8305560" cy="762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428840" indent="-514440"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ff0000"/>
                </a:solidFill>
                <a:latin typeface="Calibri"/>
              </a:rPr>
              <a:t>Asking the First Questions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0000"/>
                </a:solidFill>
                <a:latin typeface="Calibri"/>
              </a:rPr>
              <a:t> 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lvl="2" marL="9144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0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Questions asked at the inception of the project should be “context  free”   with the following objectives: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4" marL="18288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to establish communication between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1828800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 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software practitioners and the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1828800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 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customer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4" marL="18288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to identify all the stakeholders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4" marL="18288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to get the better understanding of the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1828800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 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problem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4" marL="18288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to help to “break the ice” and initiate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1828800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 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the communication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  <a:tabLst>
                <a:tab algn="l" pos="0"/>
              </a:tabLst>
            </a:pP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Box 1"/>
          <p:cNvSpPr/>
          <p:nvPr/>
        </p:nvSpPr>
        <p:spPr>
          <a:xfrm>
            <a:off x="609480" y="685800"/>
            <a:ext cx="8305560" cy="895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428840" indent="-514440"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ff0000"/>
                </a:solidFill>
                <a:latin typeface="Calibri"/>
              </a:rPr>
              <a:t>Asking the First Questions – Contd.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7030a0"/>
                </a:solidFill>
                <a:latin typeface="Calibri"/>
              </a:rPr>
              <a:t>First Set </a:t>
            </a:r>
            <a:r>
              <a:rPr b="0" lang="en-US" sz="3000" spc="-1" strike="noStrike">
                <a:solidFill>
                  <a:schemeClr val="dk1"/>
                </a:solidFill>
                <a:latin typeface="Calibri"/>
              </a:rPr>
              <a:t>helps to identify all stakeholders who will </a:t>
            </a:r>
            <a:r>
              <a:rPr b="0" lang="en-US" sz="3000" spc="-1" strike="noStrike">
                <a:solidFill>
                  <a:schemeClr val="dk1"/>
                </a:solidFill>
                <a:latin typeface="Calibri"/>
              </a:rPr>
              <a:t>	</a:t>
            </a:r>
            <a:r>
              <a:rPr b="0" lang="en-US" sz="3000" spc="-1" strike="noStrike">
                <a:solidFill>
                  <a:schemeClr val="dk1"/>
                </a:solidFill>
                <a:latin typeface="Calibri"/>
              </a:rPr>
              <a:t>have interest in the software solution and it </a:t>
            </a:r>
            <a:r>
              <a:rPr b="0" lang="en-US" sz="3000" spc="-1" strike="noStrike">
                <a:solidFill>
                  <a:schemeClr val="dk1"/>
                </a:solidFill>
                <a:latin typeface="Calibri"/>
              </a:rPr>
              <a:t>	</a:t>
            </a:r>
            <a:r>
              <a:rPr b="0" lang="en-US" sz="3000" spc="-1" strike="noStrike">
                <a:solidFill>
                  <a:schemeClr val="dk1"/>
                </a:solidFill>
                <a:latin typeface="Calibri"/>
              </a:rPr>
              <a:t>identifies measurable benefits of successful </a:t>
            </a:r>
            <a:r>
              <a:rPr b="0" lang="en-US" sz="3000" spc="-1" strike="noStrike">
                <a:solidFill>
                  <a:schemeClr val="dk1"/>
                </a:solidFill>
                <a:latin typeface="Calibri"/>
              </a:rPr>
              <a:t>	</a:t>
            </a:r>
            <a:r>
              <a:rPr b="0" lang="en-US" sz="3000" spc="-1" strike="noStrike">
                <a:solidFill>
                  <a:schemeClr val="dk1"/>
                </a:solidFill>
                <a:latin typeface="Calibri"/>
              </a:rPr>
              <a:t>implementation.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chemeClr val="dk1"/>
                </a:solidFill>
                <a:latin typeface="Calibri"/>
              </a:rPr>
              <a:t>  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lvl="2" marL="9144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0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3000" spc="-1" strike="noStrike">
                <a:solidFill>
                  <a:schemeClr val="dk1"/>
                </a:solidFill>
                <a:latin typeface="Calibri"/>
              </a:rPr>
              <a:t>Who is behind the request for this work?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lvl="2" marL="9144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0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3000" spc="-1" strike="noStrike">
                <a:solidFill>
                  <a:schemeClr val="dk1"/>
                </a:solidFill>
                <a:latin typeface="Calibri"/>
              </a:rPr>
              <a:t>Who will use the solution?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lvl="2" marL="9144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0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3000" spc="-1" strike="noStrike">
                <a:solidFill>
                  <a:schemeClr val="dk1"/>
                </a:solidFill>
                <a:latin typeface="Calibri"/>
              </a:rPr>
              <a:t>What will be the economic benefit of a 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marL="914400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chemeClr val="dk1"/>
                </a:solidFill>
                <a:latin typeface="Calibri"/>
              </a:rPr>
              <a:t>   </a:t>
            </a:r>
            <a:r>
              <a:rPr b="0" lang="en-US" sz="3000" spc="-1" strike="noStrike">
                <a:solidFill>
                  <a:schemeClr val="dk1"/>
                </a:solidFill>
                <a:latin typeface="Calibri"/>
              </a:rPr>
              <a:t>successful solution?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lvl="2" marL="9144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0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3000" spc="-1" strike="noStrike">
                <a:solidFill>
                  <a:schemeClr val="dk1"/>
                </a:solidFill>
                <a:latin typeface="Calibri"/>
              </a:rPr>
              <a:t>Is there any other source for the solution you 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marL="914400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chemeClr val="dk1"/>
                </a:solidFill>
                <a:latin typeface="Calibri"/>
              </a:rPr>
              <a:t>   </a:t>
            </a:r>
            <a:r>
              <a:rPr b="0" lang="en-US" sz="3000" spc="-1" strike="noStrike">
                <a:solidFill>
                  <a:schemeClr val="dk1"/>
                </a:solidFill>
                <a:latin typeface="Calibri"/>
              </a:rPr>
              <a:t>need?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  <a:tabLst>
                <a:tab algn="l" pos="0"/>
              </a:tabLst>
            </a:pP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Box 1"/>
          <p:cNvSpPr/>
          <p:nvPr/>
        </p:nvSpPr>
        <p:spPr>
          <a:xfrm>
            <a:off x="380880" y="685800"/>
            <a:ext cx="8534160" cy="1078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428840" indent="-514440"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ff0000"/>
                </a:solidFill>
                <a:latin typeface="Calibri"/>
              </a:rPr>
              <a:t>Asking the First Questions – Contd.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0000"/>
                </a:solidFill>
                <a:latin typeface="Calibri"/>
              </a:rPr>
              <a:t> 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7030a0"/>
                </a:solidFill>
                <a:latin typeface="Calibri"/>
              </a:rPr>
              <a:t>Next Set </a:t>
            </a:r>
            <a:r>
              <a:rPr b="0" lang="en-US" sz="3000" spc="-1" strike="noStrike">
                <a:solidFill>
                  <a:schemeClr val="dk1"/>
                </a:solidFill>
                <a:latin typeface="Calibri"/>
              </a:rPr>
              <a:t>helps software team to gain a better </a:t>
            </a:r>
            <a:r>
              <a:rPr b="0" lang="en-US" sz="3000" spc="-1" strike="noStrike">
                <a:solidFill>
                  <a:schemeClr val="dk1"/>
                </a:solidFill>
                <a:latin typeface="Calibri"/>
              </a:rPr>
              <a:t>	</a:t>
            </a:r>
            <a:r>
              <a:rPr b="0" lang="en-US" sz="3000" spc="-1" strike="noStrike">
                <a:solidFill>
                  <a:schemeClr val="dk1"/>
                </a:solidFill>
                <a:latin typeface="Calibri"/>
              </a:rPr>
              <a:t>understanding of the problem 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chemeClr val="dk1"/>
                </a:solidFill>
                <a:latin typeface="Calibri"/>
              </a:rPr>
              <a:t>  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lvl="2" marL="9144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0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3000" spc="-1" strike="noStrike">
                <a:solidFill>
                  <a:schemeClr val="dk1"/>
                </a:solidFill>
                <a:latin typeface="Calibri"/>
              </a:rPr>
              <a:t>How would you categorize “good output” that 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marL="914400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chemeClr val="dk1"/>
                </a:solidFill>
                <a:latin typeface="Calibri"/>
              </a:rPr>
              <a:t>   </a:t>
            </a:r>
            <a:r>
              <a:rPr b="0" lang="en-US" sz="3000" spc="-1" strike="noStrike">
                <a:solidFill>
                  <a:schemeClr val="dk1"/>
                </a:solidFill>
                <a:latin typeface="Calibri"/>
              </a:rPr>
              <a:t>will be generated by a successful solution?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lvl="2" marL="9144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0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3000" spc="-1" strike="noStrike">
                <a:solidFill>
                  <a:schemeClr val="dk1"/>
                </a:solidFill>
                <a:latin typeface="Calibri"/>
              </a:rPr>
              <a:t>What problems this solution will address?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lvl="2" marL="9144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0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3000" spc="-1" strike="noStrike">
                <a:solidFill>
                  <a:schemeClr val="dk1"/>
                </a:solidFill>
                <a:latin typeface="Calibri"/>
              </a:rPr>
              <a:t>Can you show me the business environment in 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marL="914400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chemeClr val="dk1"/>
                </a:solidFill>
                <a:latin typeface="Calibri"/>
              </a:rPr>
              <a:t>  </a:t>
            </a:r>
            <a:r>
              <a:rPr b="0" lang="en-US" sz="3000" spc="-1" strike="noStrike">
                <a:solidFill>
                  <a:schemeClr val="dk1"/>
                </a:solidFill>
                <a:latin typeface="Calibri"/>
              </a:rPr>
              <a:t>which the solution will be used?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lvl="2" marL="9144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0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3000" spc="-1" strike="noStrike">
                <a:solidFill>
                  <a:schemeClr val="dk1"/>
                </a:solidFill>
                <a:latin typeface="Calibri"/>
              </a:rPr>
              <a:t>Will special performance issues or constraints 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marL="914400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chemeClr val="dk1"/>
                </a:solidFill>
                <a:latin typeface="Calibri"/>
              </a:rPr>
              <a:t>   </a:t>
            </a:r>
            <a:r>
              <a:rPr b="0" lang="en-US" sz="3000" spc="-1" strike="noStrike">
                <a:solidFill>
                  <a:schemeClr val="dk1"/>
                </a:solidFill>
                <a:latin typeface="Calibri"/>
              </a:rPr>
              <a:t>affect the way the solution is approached?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  <a:tabLst>
                <a:tab algn="l" pos="0"/>
              </a:tabLst>
            </a:pP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Box 1"/>
          <p:cNvSpPr/>
          <p:nvPr/>
        </p:nvSpPr>
        <p:spPr>
          <a:xfrm>
            <a:off x="380880" y="685800"/>
            <a:ext cx="8534160" cy="941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428840" indent="-514440"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ff0000"/>
                </a:solidFill>
                <a:latin typeface="Calibri"/>
              </a:rPr>
              <a:t>Asking the First Questions – Contd.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0000"/>
                </a:solidFill>
                <a:latin typeface="Calibri"/>
              </a:rPr>
              <a:t> 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7030a0"/>
                </a:solidFill>
                <a:latin typeface="Calibri"/>
              </a:rPr>
              <a:t>Final Set </a:t>
            </a:r>
            <a:r>
              <a:rPr b="0" lang="en-US" sz="3000" spc="-1" strike="noStrike">
                <a:solidFill>
                  <a:schemeClr val="dk1"/>
                </a:solidFill>
                <a:latin typeface="Calibri"/>
              </a:rPr>
              <a:t>of questions focuses on the effectiveness of </a:t>
            </a:r>
            <a:r>
              <a:rPr b="0" lang="en-US" sz="3000" spc="-1" strike="noStrike">
                <a:solidFill>
                  <a:schemeClr val="dk1"/>
                </a:solidFill>
                <a:latin typeface="Calibri"/>
              </a:rPr>
              <a:t>	</a:t>
            </a:r>
            <a:r>
              <a:rPr b="0" lang="en-US" sz="3000" spc="-1" strike="noStrike">
                <a:solidFill>
                  <a:schemeClr val="dk1"/>
                </a:solidFill>
                <a:latin typeface="Calibri"/>
              </a:rPr>
              <a:t>the communication ability itself.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lvl="2" marL="9144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0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3000" spc="-1" strike="noStrike">
                <a:solidFill>
                  <a:schemeClr val="dk1"/>
                </a:solidFill>
                <a:latin typeface="Calibri"/>
              </a:rPr>
              <a:t>Are you the right person to answer these questions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lvl="2" marL="9144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0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3000" spc="-1" strike="noStrike">
                <a:solidFill>
                  <a:schemeClr val="dk1"/>
                </a:solidFill>
                <a:latin typeface="Calibri"/>
              </a:rPr>
              <a:t>Are your answers official?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lvl="2" marL="9144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0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3000" spc="-1" strike="noStrike">
                <a:solidFill>
                  <a:schemeClr val="dk1"/>
                </a:solidFill>
                <a:latin typeface="Calibri"/>
              </a:rPr>
              <a:t>Are my questions relevant to the problem that you have?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lvl="2" marL="9144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0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3000" spc="-1" strike="noStrike">
                <a:solidFill>
                  <a:schemeClr val="dk1"/>
                </a:solidFill>
                <a:latin typeface="Calibri"/>
              </a:rPr>
              <a:t>Am I asking too many questions?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lvl="2" marL="9144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0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3000" spc="-1" strike="noStrike">
                <a:solidFill>
                  <a:schemeClr val="dk1"/>
                </a:solidFill>
                <a:latin typeface="Calibri"/>
              </a:rPr>
              <a:t>can anyone else provide additional info?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lvl="2" marL="9144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000" spc="-1" strike="noStrike">
                <a:solidFill>
                  <a:schemeClr val="dk1"/>
                </a:solidFill>
                <a:latin typeface="Calibri"/>
              </a:rPr>
              <a:t>Should I be asking you anything else?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marL="914400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  <a:tabLst>
                <a:tab algn="l" pos="0"/>
              </a:tabLst>
            </a:pP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Box 1"/>
          <p:cNvSpPr/>
          <p:nvPr/>
        </p:nvSpPr>
        <p:spPr>
          <a:xfrm>
            <a:off x="304920" y="533520"/>
            <a:ext cx="8457840" cy="447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3200" spc="-1" strike="noStrike">
                <a:solidFill>
                  <a:srgbClr val="ff0000"/>
                </a:solidFill>
                <a:latin typeface="Calibri"/>
              </a:rPr>
              <a:t>ELICITING REQUIREMENTS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3200" spc="-1" strike="noStrike">
                <a:solidFill>
                  <a:schemeClr val="dk1"/>
                </a:solidFill>
                <a:latin typeface="Calibri"/>
              </a:rPr>
              <a:t>Elicitation format consists of :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Collaborative Requirement Gathering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Quality Function Deployment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User Scenarios (i.e Use Cases)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Elicitation Work Products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Box 1"/>
          <p:cNvSpPr/>
          <p:nvPr/>
        </p:nvSpPr>
        <p:spPr>
          <a:xfrm>
            <a:off x="228600" y="533520"/>
            <a:ext cx="8686440" cy="713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3200" spc="-1" strike="noStrike">
                <a:solidFill>
                  <a:srgbClr val="ff0000"/>
                </a:solidFill>
                <a:latin typeface="Calibri"/>
              </a:rPr>
              <a:t>Collaborative Requirement Gathering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2800" spc="-1" strike="noStrike">
                <a:solidFill>
                  <a:schemeClr val="dk1"/>
                </a:solidFill>
                <a:latin typeface="Calibri"/>
              </a:rPr>
              <a:t>Guidelines: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457200" indent="-21600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Team of stakeholders &amp; developers work together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457200" indent="-21600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Meetings are conducted between them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457200" indent="-21600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Rules for preparation &amp; participation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457200" indent="-21600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Formal Agenda – Topics, date, Time, Venue in advance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457200" indent="-21600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 Facilitator must be appointed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457200" indent="-21600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Definition Mechanism is to be used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457200" indent="-21600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Goal must be to identify the problems/issues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1"/>
          <p:cNvSpPr/>
          <p:nvPr/>
        </p:nvSpPr>
        <p:spPr>
          <a:xfrm>
            <a:off x="380880" y="380880"/>
            <a:ext cx="8229240" cy="759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3600" spc="-1" strike="noStrike">
                <a:solidFill>
                  <a:srgbClr val="ff0000"/>
                </a:solidFill>
                <a:latin typeface="Calibri"/>
              </a:rPr>
              <a:t>ELICITATION WORK PRODUCTS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lvl="2" marL="914400" indent="-21600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Statement of need and feasibility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914400" indent="-21600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Bounded statement of scope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914400" indent="-21600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 list of all stakeholders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914400" indent="-21600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Description of System technical environment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914400" indent="-21600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List of requirements /constraints (Function wise)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914400" indent="-21600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Set of usage scenarios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914400" indent="-21600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Any prototype developed to define   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914400" defTabSz="914400">
              <a:lnSpc>
                <a:spcPct val="150000"/>
              </a:lnSpc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 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requirements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Box 1"/>
          <p:cNvSpPr/>
          <p:nvPr/>
        </p:nvSpPr>
        <p:spPr>
          <a:xfrm>
            <a:off x="304920" y="533520"/>
            <a:ext cx="8457840" cy="801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3600" spc="-1" strike="noStrike">
                <a:solidFill>
                  <a:srgbClr val="ff0000"/>
                </a:solidFill>
                <a:latin typeface="Calibri"/>
              </a:rPr>
              <a:t>NEGOTIATING REQUIREMENTS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lvl="1" marL="4572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Customer is asked to balance the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functionality, performance and other system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or product characteristics against cost &amp;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time to market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4572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The intent of negotiations is to develop a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 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project plan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4572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The best negotiations strive for “win-win”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 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result.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Box 1"/>
          <p:cNvSpPr/>
          <p:nvPr/>
        </p:nvSpPr>
        <p:spPr>
          <a:xfrm>
            <a:off x="457200" y="609480"/>
            <a:ext cx="8381520" cy="898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3200" spc="-1" strike="noStrike">
                <a:solidFill>
                  <a:srgbClr val="ff0000"/>
                </a:solidFill>
                <a:latin typeface="Calibri"/>
              </a:rPr>
              <a:t>VALIDATING REQUIREMENTS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As each element of Analysis Model is created, it is examined for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consistency, omissions &amp; ambiguity.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The requirements represented by the model are priorized by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 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the customer &amp; grouped into requirement packages that will be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 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implemented as software increments &amp; delivered to customer.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The review of Analysis model by FTR addresses: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4572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consistency of each requirement with the overall objective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4572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proper specifications of requirements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4572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necessity of requirement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4572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Is each requirement bounded &amp; unambiguous?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4572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source of each reqt.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4572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check for conflicting reqt.     * Info., function &amp; Behavior.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4572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technical feasibility of reqt.  * Model partitioning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4572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testability of reqt.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	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      * Usage of reqt. Pattern.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Box 1"/>
          <p:cNvSpPr/>
          <p:nvPr/>
        </p:nvSpPr>
        <p:spPr>
          <a:xfrm>
            <a:off x="457200" y="228600"/>
            <a:ext cx="8457840" cy="1045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3200" spc="-1" strike="noStrike">
                <a:solidFill>
                  <a:srgbClr val="ff0000"/>
                </a:solidFill>
                <a:latin typeface="Calibri"/>
              </a:rPr>
              <a:t>BUILDING THE ANALYSIS MODEL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4572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However the written word is wonderful vehicle for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communication, but it is not necessarily the best way to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represent the requirement for computer software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4572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Analysis Modeling uses combination of text &amp; diagrammatic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forms to depict requirements of data, functions &amp; behavior in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a way that is easy to understand &amp; more importantly,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straightforward to review for correctness, completeness &amp;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consistency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4572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A software Engineer ( or a Systems Analyst) builds the model   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using requirements elicited from the customer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4572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It is very important activity because to validate software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requirements , you need to view them from a number of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different points of view. Analysis model represents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requirements in “ multiple dimensions” , thereby increasing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the probability that errors will be found, that inconsistency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will surface and that omissions will be uncovered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Box 1"/>
          <p:cNvSpPr/>
          <p:nvPr/>
        </p:nvSpPr>
        <p:spPr>
          <a:xfrm>
            <a:off x="457200" y="228600"/>
            <a:ext cx="8457840" cy="801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3200" spc="-1" strike="noStrike">
                <a:solidFill>
                  <a:srgbClr val="ff0000"/>
                </a:solidFill>
                <a:latin typeface="Calibri"/>
              </a:rPr>
              <a:t>ANALYSIS RULES OF THUMB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4572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The model should focus on the requirements that are visible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 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within the problem or business domain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4572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The level of abstraction should be relatively high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4572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Each element of an analysis model should add to an overall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understanding of software requirements and provide insight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into the information domain, function and behavior of the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system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4572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Delay consideration of infrastructure and other non-functional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models until design phase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4572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Minimize coupling throughout the system  -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interconnectedness between classes and functions should be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low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4572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Keep the model as simple as it can be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Box 1"/>
          <p:cNvSpPr/>
          <p:nvPr/>
        </p:nvSpPr>
        <p:spPr>
          <a:xfrm>
            <a:off x="228600" y="228600"/>
            <a:ext cx="8686440" cy="66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3200" spc="-1" strike="noStrike">
                <a:solidFill>
                  <a:srgbClr val="ff0000"/>
                </a:solidFill>
                <a:latin typeface="Calibri"/>
              </a:rPr>
              <a:t>ANALYSIS MODELIMG APPROACHES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457200" indent="-216000" algn="just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1" lang="en-US" sz="2600" spc="-1" strike="noStrike">
                <a:solidFill>
                  <a:schemeClr val="dk1"/>
                </a:solidFill>
                <a:latin typeface="Calibri"/>
              </a:rPr>
              <a:t>Structured Analysis : </a:t>
            </a:r>
            <a:r>
              <a:rPr b="0" lang="en-US" sz="2600" spc="-1" strike="noStrike">
                <a:solidFill>
                  <a:schemeClr val="dk1"/>
                </a:solidFill>
                <a:latin typeface="Calibri"/>
              </a:rPr>
              <a:t>This considers data and processes that transforms the data as separate entities. Data objects are modeled in a way that defines their attributes and relationships. Processes that manipulate data objects are modeled in a manner that shows how they transform data as data objects flow through the system. Flow oriented modeling is predominantly used.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lvl="1" marL="457200" indent="-216000" algn="just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6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1" lang="en-US" sz="2600" spc="-1" strike="noStrike">
                <a:solidFill>
                  <a:schemeClr val="dk1"/>
                </a:solidFill>
                <a:latin typeface="Calibri"/>
              </a:rPr>
              <a:t>Object Oriented Analysis : </a:t>
            </a:r>
            <a:r>
              <a:rPr b="0" lang="en-US" sz="2600" spc="-1" strike="noStrike">
                <a:solidFill>
                  <a:schemeClr val="dk1"/>
                </a:solidFill>
                <a:latin typeface="Calibri"/>
              </a:rPr>
              <a:t> This approach focuses on the definition of classes and the manner in which they collaborate with one another to effect customer requirements. UML and Unified process are predominantly object oriented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1"/>
          <p:cNvSpPr/>
          <p:nvPr/>
        </p:nvSpPr>
        <p:spPr>
          <a:xfrm>
            <a:off x="457200" y="228600"/>
            <a:ext cx="8686440" cy="569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4000" spc="-1" strike="noStrike">
                <a:solidFill>
                  <a:srgbClr val="ff0000"/>
                </a:solidFill>
                <a:latin typeface="Calibri"/>
              </a:rPr>
              <a:t>Analysis Model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 lvl="1" marL="4572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Analysis  Modeling leads to the derivation of each of the modeling elements shown in the following figure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4572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3200" spc="-1" strike="noStrike">
                <a:solidFill>
                  <a:srgbClr val="7030a0"/>
                </a:solidFill>
                <a:latin typeface="Calibri"/>
              </a:rPr>
              <a:t>Only those modeling elements that add value to the model should be used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4572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The specific content of each element may differ from project to project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Picture 2" descr="Analysis_Model_Elements"/>
          <p:cNvPicPr/>
          <p:nvPr/>
        </p:nvPicPr>
        <p:blipFill>
          <a:blip r:embed="rId1"/>
          <a:stretch/>
        </p:blipFill>
        <p:spPr>
          <a:xfrm>
            <a:off x="762120" y="1066680"/>
            <a:ext cx="7543440" cy="4952520"/>
          </a:xfrm>
          <a:prstGeom prst="rect">
            <a:avLst/>
          </a:prstGeom>
          <a:ln w="12700">
            <a:solidFill>
              <a:srgbClr val="000000"/>
            </a:solidFill>
            <a:miter/>
          </a:ln>
          <a:effectLst>
            <a:outerShdw algn="ctr" dir="2700000" dist="35638" rotWithShape="0">
              <a:srgbClr val="808080"/>
            </a:outerShdw>
          </a:effectLst>
        </p:spPr>
      </p:pic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685800" y="152280"/>
            <a:ext cx="77720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ff0000"/>
                </a:solidFill>
                <a:latin typeface="Calibri"/>
              </a:rPr>
              <a:t>Analysis Model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7" name="Rectangle 4"/>
          <p:cNvSpPr/>
          <p:nvPr/>
        </p:nvSpPr>
        <p:spPr>
          <a:xfrm>
            <a:off x="584280" y="2502000"/>
            <a:ext cx="863280" cy="5187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8" name="Rectangle 5"/>
          <p:cNvSpPr/>
          <p:nvPr/>
        </p:nvSpPr>
        <p:spPr>
          <a:xfrm>
            <a:off x="2168640" y="5807880"/>
            <a:ext cx="4800240" cy="9432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800" spc="-1" strike="noStrike">
                <a:solidFill>
                  <a:schemeClr val="dk1"/>
                </a:solidFill>
                <a:latin typeface="Calibri"/>
              </a:rPr>
              <a:t>Elements of the analysis model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963</TotalTime>
  <Application>LibreOffice/24.2.7.2$Linux_X86_64 LibreOffice_project/420$Build-2</Application>
  <AppVersion>15.0000</AppVersion>
  <Words>1307</Words>
  <Paragraphs>226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Prashasti Kanikar (Dr.)</dc:creator>
  <dc:description/>
  <dc:language>en-US</dc:language>
  <cp:lastModifiedBy>Prashasti Kanikar (Dr.)</cp:lastModifiedBy>
  <dcterms:modified xsi:type="dcterms:W3CDTF">2025-03-12T09:47:36Z</dcterms:modified>
  <cp:revision>137</cp:revision>
  <dc:subject/>
  <dc:title>REUIREMENTS ENGINEERING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On-screen Show (4:3)</vt:lpwstr>
  </property>
  <property fmtid="{D5CDD505-2E9C-101B-9397-08002B2CF9AE}" pid="4" name="Slides">
    <vt:i4>20</vt:i4>
  </property>
</Properties>
</file>