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5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75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D29D-FFDF-4BFA-BC1B-F8249D10A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3374A-36B8-4620-AF44-3CB170B82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70F75-0F13-4AE8-8E76-00F41C1D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026C0-32DE-4FE4-9C55-7ED2596F8134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45F88-73C7-4488-B6D7-67BF6ABBB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EDEF-CE46-4F5A-B7E7-F84049EDB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B109-6344-49A4-ABC4-B13B94AB5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017B-B407-4473-A344-8B039F42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B4D38-8564-4DFC-BCB8-034F22A96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2C084-C45C-4D46-82F5-28479E030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026C0-32DE-4FE4-9C55-7ED2596F8134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93F9B-858D-49B6-ABF3-C2A46F61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388FE-B128-451F-AAEE-B2F8C4E7B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B109-6344-49A4-ABC4-B13B94AB5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8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BE53C-7CB4-4053-9BBF-DC2A2E871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B3072-DF41-4870-B179-ACDB2FDB5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16E8B-284A-44F7-BEB1-D0B70ADA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026C0-32DE-4FE4-9C55-7ED2596F8134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F6975-7D15-401F-89E6-265414579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7F728-A07B-4B2C-AC45-DBDFC9576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B109-6344-49A4-ABC4-B13B94AB5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273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A46D6-D666-4F6C-982A-E854357CB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82DDF-A5BD-4A42-AC17-9D32952C8F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29AE8-B4B7-4D06-8493-DA45B8133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D2785-13D9-43E1-B9A6-61204D456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026C0-32DE-4FE4-9C55-7ED2596F8134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54011-C64B-450B-A97F-9E982931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6A241-BFE2-4335-B4F0-08FA9F534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B109-6344-49A4-ABC4-B13B94AB5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577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E1550-0EC9-4CB6-A71C-36F368E4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1DAD2-A2D6-46D1-9A78-F4C2EEACA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5B63D-EE7B-43F3-9576-4858AC685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58D60-62B6-4124-B5EF-B14544D4B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8FB3E-A194-4064-B580-AC9B82347C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82AD11-9122-4A66-ACD4-66546169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026C0-32DE-4FE4-9C55-7ED2596F8134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2F5D-4A2C-4CA0-9571-0DAD4F090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6B0A5A-C504-44DA-8A36-C32BDA00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B109-6344-49A4-ABC4-B13B94AB5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64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8D88F-3F71-4297-BD16-DB8F0EB91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E236F-AD99-4137-BF96-DF4FF245F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026C0-32DE-4FE4-9C55-7ED2596F8134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D2CC6-469A-4693-B737-2FD7E76E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A1B23-113A-4B24-A263-2A6CD419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B109-6344-49A4-ABC4-B13B94AB5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318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6EA223-DBC7-4967-9BA8-08BAEFFA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026C0-32DE-4FE4-9C55-7ED2596F8134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2E5150-30BC-4267-9DCE-C45763A91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4A4B1-30D4-4303-B73E-A16BE2E2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B109-6344-49A4-ABC4-B13B94AB5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29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61207-5948-4F60-B8B2-E970B47E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81D0C-3547-4A75-BA7F-31CD3C9ED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E349F-00BA-487B-9B71-A4230F8DA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81A36-6315-4368-ACE2-E60BFC42D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026C0-32DE-4FE4-9C55-7ED2596F8134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18909-21D1-4B1B-A3EF-4F9E7E5D7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96DD4-FAC5-42E7-A81C-AA515DF57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B109-6344-49A4-ABC4-B13B94AB5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248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0BD62-1C75-47E1-914A-EF0F96BD2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6FAC0-6C7C-4F8A-8C85-1B2E3498B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7D46C-BC96-4424-AC02-E8CBA4B25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C19CF-FB28-4680-9EDF-22E26150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026C0-32DE-4FE4-9C55-7ED2596F8134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7205-F63F-43D7-B7EC-8314F808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AA2BA-A9AC-4066-B4E2-CFBB9B4A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B109-6344-49A4-ABC4-B13B94AB5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14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1AED5-BBA3-4C7B-BD86-B2D6C74A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F482E-B257-423F-95B7-19E91AF12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8A544-C3F7-4036-9A8F-8FC360C2C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026C0-32DE-4FE4-9C55-7ED2596F8134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4C15A-DD02-46D4-A25F-69ABCDF39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2FAD9-801A-4E00-91D5-D29048CD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B109-6344-49A4-ABC4-B13B94AB5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39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768ECD-0ECF-4756-92D7-D9BA5A6C4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D4FB75-139C-4419-900C-6899A1287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036AF-98CF-46FE-B688-5E4E5DC23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026C0-32DE-4FE4-9C55-7ED2596F8134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162AA-5E37-4DA3-B415-DE1EF4D2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EE246-E0B9-4AF7-99D3-93941423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B109-6344-49A4-ABC4-B13B94AB5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953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B57069-C707-4026-9030-64F63FB1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E1732-E566-4365-8B91-AD7978851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B7CA9-E861-4699-B9A4-AA3065C8D9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026C0-32DE-4FE4-9C55-7ED2596F8134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9B70F-5E54-4A66-91E6-026AAC160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AC0CC-65D8-4E1A-88D6-F2C96F6ED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AB109-6344-49A4-ABC4-B13B94AB5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90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hoenixnap.com/kb/what-is-a-relational-database" TargetMode="External"/><Relationship Id="rId2" Type="http://schemas.openxmlformats.org/officeDocument/2006/relationships/hyperlink" Target="https://phoenixnap.com/glossary/object-oriented-programmi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hoenixnap.com/glossary/java-definitio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hoenixnap.com/kb/database-normalizatio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hoenixnap.com/blog/what-is-disaster-recovery" TargetMode="External"/><Relationship Id="rId2" Type="http://schemas.openxmlformats.org/officeDocument/2006/relationships/hyperlink" Target="https://phoenixnap.com/kb/acid-vs-bas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hoenixnap.com/glossary/what-is-an-application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hoenixnap.com/kb/mysql-data-type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hoenixnap.com/glossary/real-time-technology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what-is-sql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795C9-EE9D-4533-92F6-6895240EFC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ORDBMS</a:t>
            </a:r>
            <a:br>
              <a:rPr lang="en-US" dirty="0"/>
            </a:br>
            <a:r>
              <a:rPr lang="en-US" dirty="0"/>
              <a:t>OODBMS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0628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C8BE-F425-488A-A475-79944400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298575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dirty="0"/>
              <a:t>ORDBMS stands for Object-Relational Database Management System. It's a type of database management system that combines object-oriented and relational database models.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049653-73D2-4434-A303-719436D09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168650"/>
            <a:ext cx="624840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90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5BEC-385E-4539-B71B-32BA489BA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84F46-085C-4F76-B9F3-BDCA8B650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object–relational database (ORD), or object–relational database management system (ORDBMS), is a database management system (DBMS) similar to a relational database, but with an object-oriented database model: objects, classes and inheritance are directly supported in database schemas and in the query language.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4764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C053-E252-4F86-B5B8-1BFFC9E52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0750"/>
          </a:xfrm>
        </p:spPr>
        <p:txBody>
          <a:bodyPr/>
          <a:lstStyle/>
          <a:p>
            <a:r>
              <a:rPr lang="en-US" dirty="0"/>
              <a:t>Object Oriented Database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D969F-DDDC-463D-AFD7-35889AFB5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9008D-0D76-4E53-BEFA-8C298DA9B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1705787"/>
            <a:ext cx="5824537" cy="478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631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FC1A-BA39-4D86-AAA8-DD318DA1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C52602-2170-44AB-8D3C-4D9A841D5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896" y="2014537"/>
            <a:ext cx="8232207" cy="412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67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FC6E9-8243-4AE3-B1DA-BA30D90D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Object-Oriented Database (OODB)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50CEB-BA5E-4D19-ACD2-96357BF9E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combines </a:t>
            </a:r>
            <a:r>
              <a:rPr lang="en-US" b="1" u="sng" dirty="0">
                <a:hlinkClick r:id="rId2"/>
              </a:rPr>
              <a:t>object-oriented programming</a:t>
            </a:r>
            <a:r>
              <a:rPr lang="en-US" dirty="0"/>
              <a:t> concepts with </a:t>
            </a:r>
            <a:r>
              <a:rPr lang="en-US" b="1" u="sng" dirty="0">
                <a:hlinkClick r:id="rId3"/>
              </a:rPr>
              <a:t>relational database</a:t>
            </a:r>
            <a:r>
              <a:rPr lang="en-US" dirty="0"/>
              <a:t> principles.</a:t>
            </a:r>
          </a:p>
          <a:p>
            <a:r>
              <a:rPr lang="en-US" dirty="0"/>
              <a:t>It is managed by an </a:t>
            </a:r>
            <a:r>
              <a:rPr lang="en-US" b="1" dirty="0"/>
              <a:t>o</a:t>
            </a:r>
            <a:r>
              <a:rPr lang="en-US" dirty="0"/>
              <a:t>bject-</a:t>
            </a:r>
            <a:r>
              <a:rPr lang="en-US" b="1" dirty="0"/>
              <a:t>o</a:t>
            </a:r>
            <a:r>
              <a:rPr lang="en-US" dirty="0"/>
              <a:t>riented </a:t>
            </a:r>
            <a:r>
              <a:rPr lang="en-US" b="1" dirty="0"/>
              <a:t>d</a:t>
            </a:r>
            <a:r>
              <a:rPr lang="en-US" dirty="0"/>
              <a:t>ata</a:t>
            </a:r>
            <a:r>
              <a:rPr lang="en-US" b="1" dirty="0"/>
              <a:t>b</a:t>
            </a:r>
            <a:r>
              <a:rPr lang="en-US" dirty="0"/>
              <a:t>ase </a:t>
            </a:r>
            <a:r>
              <a:rPr lang="en-US" b="1" dirty="0"/>
              <a:t>m</a:t>
            </a:r>
            <a:r>
              <a:rPr lang="en-US" dirty="0"/>
              <a:t>anagement </a:t>
            </a:r>
            <a:r>
              <a:rPr lang="en-US" b="1" dirty="0"/>
              <a:t>s</a:t>
            </a:r>
            <a:r>
              <a:rPr lang="en-US" dirty="0"/>
              <a:t>ystem (OODBMS). </a:t>
            </a:r>
          </a:p>
          <a:p>
            <a:r>
              <a:rPr lang="en-US" dirty="0"/>
              <a:t>OODBs contain the following elements: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/>
              <a:t>Objects</a:t>
            </a:r>
            <a:r>
              <a:rPr lang="en-US" dirty="0"/>
              <a:t>. The basic building block and an instance of a class. The type is either built-in or user-defined.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/>
              <a:t>Classes</a:t>
            </a:r>
            <a:r>
              <a:rPr lang="en-US" dirty="0"/>
              <a:t>. A schema or blueprint that defines object structure and behavior.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/>
              <a:t>Methods</a:t>
            </a:r>
            <a:r>
              <a:rPr lang="en-US" dirty="0"/>
              <a:t>. A blueprint that defines the behavior of a class.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/>
              <a:t>Pointers</a:t>
            </a:r>
            <a:r>
              <a:rPr lang="en-US" dirty="0"/>
              <a:t>. An entity that helps access elements of an object database. They also help establish relationships between objects.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002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6F43C-47D8-4C60-B9FE-CAB34AAB7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90A53-3103-4235-AD59-0C76A2442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901825"/>
            <a:ext cx="10515600" cy="4351338"/>
          </a:xfrm>
        </p:spPr>
        <p:txBody>
          <a:bodyPr/>
          <a:lstStyle/>
          <a:p>
            <a:r>
              <a:rPr lang="en-US" dirty="0"/>
              <a:t>The main feature of objects is the possibility of </a:t>
            </a:r>
            <a:r>
              <a:rPr lang="en-US" b="1" dirty="0"/>
              <a:t>user-constructed types</a:t>
            </a:r>
            <a:r>
              <a:rPr lang="en-US" dirty="0"/>
              <a:t>. </a:t>
            </a:r>
          </a:p>
          <a:p>
            <a:r>
              <a:rPr lang="en-US" dirty="0"/>
              <a:t>An object created in a programming language (such as </a:t>
            </a:r>
            <a:r>
              <a:rPr lang="en-US" b="1" u="sng" dirty="0">
                <a:hlinkClick r:id="rId2"/>
              </a:rPr>
              <a:t>Java</a:t>
            </a:r>
            <a:r>
              <a:rPr lang="en-US" dirty="0"/>
              <a:t>) saves into an OODB as is. </a:t>
            </a:r>
          </a:p>
          <a:p>
            <a:r>
              <a:rPr lang="en-US" dirty="0"/>
              <a:t>All the information about an object is in a single package instead of spread across multiple tables.</a:t>
            </a: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6DFC31-4EA8-4BB8-9153-86F5A6F223C3}"/>
              </a:ext>
            </a:extLst>
          </p:cNvPr>
          <p:cNvSpPr/>
          <p:nvPr/>
        </p:nvSpPr>
        <p:spPr>
          <a:xfrm>
            <a:off x="2781300" y="512445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9A85B9-D19C-47F6-B58B-BDFF2C0E3C93}"/>
              </a:ext>
            </a:extLst>
          </p:cNvPr>
          <p:cNvCxnSpPr/>
          <p:nvPr/>
        </p:nvCxnSpPr>
        <p:spPr>
          <a:xfrm flipV="1">
            <a:off x="3571875" y="4857750"/>
            <a:ext cx="561975" cy="371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D1394E-F9F2-46FF-9556-06FB1E3D1F99}"/>
              </a:ext>
            </a:extLst>
          </p:cNvPr>
          <p:cNvCxnSpPr>
            <a:cxnSpLocks/>
          </p:cNvCxnSpPr>
          <p:nvPr/>
        </p:nvCxnSpPr>
        <p:spPr>
          <a:xfrm flipV="1">
            <a:off x="3709988" y="5368528"/>
            <a:ext cx="776287" cy="151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BAD481-08B0-40A8-8794-02ABF81C15E0}"/>
              </a:ext>
            </a:extLst>
          </p:cNvPr>
          <p:cNvCxnSpPr>
            <a:cxnSpLocks/>
          </p:cNvCxnSpPr>
          <p:nvPr/>
        </p:nvCxnSpPr>
        <p:spPr>
          <a:xfrm>
            <a:off x="3655218" y="5807868"/>
            <a:ext cx="671513" cy="157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4269CC-AECF-40D1-B3EC-1409C734B98A}"/>
              </a:ext>
            </a:extLst>
          </p:cNvPr>
          <p:cNvCxnSpPr>
            <a:cxnSpLocks/>
          </p:cNvCxnSpPr>
          <p:nvPr/>
        </p:nvCxnSpPr>
        <p:spPr>
          <a:xfrm>
            <a:off x="3386138" y="5984081"/>
            <a:ext cx="495299" cy="621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7E3F08-3BD3-43D9-A3B3-5273BCC04796}"/>
              </a:ext>
            </a:extLst>
          </p:cNvPr>
          <p:cNvCxnSpPr>
            <a:cxnSpLocks/>
          </p:cNvCxnSpPr>
          <p:nvPr/>
        </p:nvCxnSpPr>
        <p:spPr>
          <a:xfrm flipH="1">
            <a:off x="2505074" y="6038850"/>
            <a:ext cx="523875" cy="476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E01C64-4713-407D-AE2E-E148F46F58EC}"/>
              </a:ext>
            </a:extLst>
          </p:cNvPr>
          <p:cNvCxnSpPr>
            <a:cxnSpLocks/>
          </p:cNvCxnSpPr>
          <p:nvPr/>
        </p:nvCxnSpPr>
        <p:spPr>
          <a:xfrm flipH="1" flipV="1">
            <a:off x="2071688" y="5581650"/>
            <a:ext cx="709612" cy="104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512DDF-3551-4494-A36B-E5D491BC0C30}"/>
              </a:ext>
            </a:extLst>
          </p:cNvPr>
          <p:cNvCxnSpPr>
            <a:cxnSpLocks/>
          </p:cNvCxnSpPr>
          <p:nvPr/>
        </p:nvCxnSpPr>
        <p:spPr>
          <a:xfrm flipH="1" flipV="1">
            <a:off x="2781300" y="4646613"/>
            <a:ext cx="352425" cy="449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97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52BB8-923D-4F4E-8224-0B92C302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OODB vs. Relational Databases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B25C7-8A7B-468B-9014-408FE75D7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609726"/>
            <a:ext cx="11191875" cy="218122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main difference between the two is how the data is structured:</a:t>
            </a:r>
          </a:p>
          <a:p>
            <a:r>
              <a:rPr lang="en-US" b="1" dirty="0"/>
              <a:t>Relational databases.</a:t>
            </a:r>
            <a:r>
              <a:rPr lang="en-US" dirty="0"/>
              <a:t> Data resides in structured tables with rows and columns. It is queried using SQL, focusing mainly on data consistency and </a:t>
            </a:r>
            <a:r>
              <a:rPr lang="en-US" b="1" u="sng" dirty="0">
                <a:hlinkClick r:id="rId2"/>
              </a:rPr>
              <a:t>normalization</a:t>
            </a:r>
            <a:r>
              <a:rPr lang="en-US" dirty="0"/>
              <a:t>.</a:t>
            </a:r>
          </a:p>
          <a:p>
            <a:r>
              <a:rPr lang="en-US" b="1" dirty="0"/>
              <a:t>OODB</a:t>
            </a:r>
            <a:r>
              <a:rPr lang="en-US" dirty="0"/>
              <a:t>. Data is stored as a complete and complex object. It supports complex data types and inheritance. The main focus is to minimize the difference between a database structure and a programming language.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552285-A5C2-4CEF-9A8C-BC34BBF47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5" y="3925885"/>
            <a:ext cx="60960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62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F61C3-8383-4416-9074-24BAFAAA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Object-Oriented Programming Concepts in Database Management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7DB1C-DEE1-4CD9-B9C8-96059E0C0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Four main features of OOP are: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Polymorphism.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Inheritance.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Encapsulation.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Abstraction.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6146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D37E1-B640-45B4-B58D-00934BC5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Features of Object-Oriented Databases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969AE7-61D9-4197-83EE-1D20914E41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7266175"/>
              </p:ext>
            </p:extLst>
          </p:nvPr>
        </p:nvGraphicFramePr>
        <p:xfrm>
          <a:off x="628650" y="1690689"/>
          <a:ext cx="10725150" cy="4938711"/>
        </p:xfrm>
        <a:graphic>
          <a:graphicData uri="http://schemas.openxmlformats.org/drawingml/2006/table">
            <a:tbl>
              <a:tblPr/>
              <a:tblGrid>
                <a:gridCol w="2790825">
                  <a:extLst>
                    <a:ext uri="{9D8B030D-6E8A-4147-A177-3AD203B41FA5}">
                      <a16:colId xmlns:a16="http://schemas.microsoft.com/office/drawing/2014/main" val="2590417283"/>
                    </a:ext>
                  </a:extLst>
                </a:gridCol>
                <a:gridCol w="7934325">
                  <a:extLst>
                    <a:ext uri="{9D8B030D-6E8A-4147-A177-3AD203B41FA5}">
                      <a16:colId xmlns:a16="http://schemas.microsoft.com/office/drawing/2014/main" val="794023949"/>
                    </a:ext>
                  </a:extLst>
                </a:gridCol>
              </a:tblGrid>
              <a:tr h="370054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Feature</a:t>
                      </a:r>
                      <a:endParaRPr lang="en-IN" sz="1800">
                        <a:effectLst/>
                      </a:endParaRP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Description</a:t>
                      </a:r>
                      <a:endParaRPr lang="en-IN" sz="1800">
                        <a:effectLst/>
                      </a:endParaRP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196900"/>
                  </a:ext>
                </a:extLst>
              </a:tr>
              <a:tr h="484189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Query Language</a:t>
                      </a:r>
                      <a:endParaRPr lang="en-IN" sz="1800">
                        <a:effectLst/>
                      </a:endParaRP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Finds objects and retrieve data from the database.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400860"/>
                  </a:ext>
                </a:extLst>
              </a:tr>
              <a:tr h="971824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Transparent Persistence</a:t>
                      </a:r>
                      <a:endParaRPr lang="en-IN" sz="1800" dirty="0">
                        <a:effectLst/>
                      </a:endParaRP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Allows accessing and using data with an object-oriented programming language without special handling.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986488"/>
                  </a:ext>
                </a:extLst>
              </a:tr>
              <a:tr h="1106718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ACID Transactions</a:t>
                      </a:r>
                      <a:endParaRPr lang="en-IN" sz="1800">
                        <a:effectLst/>
                      </a:endParaRP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Ensures that </a:t>
                      </a:r>
                      <a:r>
                        <a:rPr lang="en-US" sz="1800" b="1" u="sng">
                          <a:solidFill>
                            <a:srgbClr val="0A1D33"/>
                          </a:solidFill>
                          <a:effectLst/>
                          <a:hlinkClick r:id="rId2"/>
                        </a:rPr>
                        <a:t>ACID</a:t>
                      </a:r>
                      <a:r>
                        <a:rPr lang="en-US" sz="1800">
                          <a:effectLst/>
                        </a:rPr>
                        <a:t> transactions, and guarantees all transactions are completed without conflicting changes.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835334"/>
                  </a:ext>
                </a:extLst>
              </a:tr>
              <a:tr h="1106718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Database Caching</a:t>
                      </a:r>
                      <a:endParaRPr lang="en-IN" sz="1800">
                        <a:effectLst/>
                      </a:endParaRP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Creates a partial replica of the database in memory. Allows faster access to a database without reading from disk.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336270"/>
                  </a:ext>
                </a:extLst>
              </a:tr>
              <a:tr h="899208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Recovery</a:t>
                      </a:r>
                      <a:endParaRPr lang="en-IN" sz="1800">
                        <a:effectLst/>
                      </a:endParaRP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Provides </a:t>
                      </a:r>
                      <a:r>
                        <a:rPr lang="en-US" sz="1800" b="1" u="sng" dirty="0">
                          <a:solidFill>
                            <a:srgbClr val="0A1D33"/>
                          </a:solidFill>
                          <a:effectLst/>
                          <a:hlinkClick r:id="rId3"/>
                        </a:rPr>
                        <a:t>disaster recovery</a:t>
                      </a:r>
                      <a:r>
                        <a:rPr lang="en-US" sz="1800" dirty="0">
                          <a:effectLst/>
                        </a:rPr>
                        <a:t> mechanisms in case of </a:t>
                      </a:r>
                      <a:r>
                        <a:rPr lang="en-US" sz="1800" b="1" u="sng" dirty="0">
                          <a:solidFill>
                            <a:srgbClr val="0A1D33"/>
                          </a:solidFill>
                          <a:effectLst/>
                          <a:hlinkClick r:id="rId4"/>
                        </a:rPr>
                        <a:t>application</a:t>
                      </a:r>
                      <a:r>
                        <a:rPr lang="en-US" sz="1800" dirty="0">
                          <a:effectLst/>
                        </a:rPr>
                        <a:t> or system failure.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421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878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AE4C-A112-43DD-B398-B7601FF7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b="1" dirty="0"/>
              <a:t>Benefits of Object-Oriented Databases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2E0B9-3E2A-4441-9B4A-82B92427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 data and a wider variety of data types compared to </a:t>
            </a:r>
            <a:r>
              <a:rPr lang="en-US" b="1" u="sng" dirty="0">
                <a:hlinkClick r:id="rId2"/>
              </a:rPr>
              <a:t>MySQL data types</a:t>
            </a:r>
            <a:r>
              <a:rPr lang="en-US" dirty="0"/>
              <a:t>.</a:t>
            </a:r>
          </a:p>
          <a:p>
            <a:r>
              <a:rPr lang="en-US" dirty="0"/>
              <a:t>Easy to save and retrieve data quickly.</a:t>
            </a:r>
          </a:p>
          <a:p>
            <a:r>
              <a:rPr lang="en-US" dirty="0"/>
              <a:t>Seamless integration with object-oriented programming languages.</a:t>
            </a:r>
          </a:p>
          <a:p>
            <a:r>
              <a:rPr lang="en-US" dirty="0"/>
              <a:t>Easier to model advanced real-world problems.</a:t>
            </a:r>
          </a:p>
          <a:p>
            <a:r>
              <a:rPr lang="en-US" dirty="0"/>
              <a:t>Extensible with custom data types.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99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3F4B3-EB78-48A3-AA67-64C859CC7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of Object-Oriented Databases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0C1BA-F4BA-4A1D-966C-186ADD762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not as widely adopted as relational databases.</a:t>
            </a:r>
          </a:p>
          <a:p>
            <a:r>
              <a:rPr lang="en-US" dirty="0"/>
              <a:t>No universal data model. Lacks theoretical foundations and standards.</a:t>
            </a:r>
          </a:p>
          <a:p>
            <a:r>
              <a:rPr lang="en-US" dirty="0"/>
              <a:t>Does not support views.</a:t>
            </a:r>
          </a:p>
          <a:p>
            <a:r>
              <a:rPr lang="en-US" dirty="0"/>
              <a:t>High complexity, which may lead to performance issues.</a:t>
            </a:r>
          </a:p>
          <a:p>
            <a:r>
              <a:rPr lang="en-US" dirty="0"/>
              <a:t>An adequate security mechanism and access rights to objects do not exist.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967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91DE8-44F3-4DB9-8B5F-4FFB153B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Object-Orient Databases: Use Cases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F0A1D-9754-469B-AC13-49F8F1F4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6" y="1562100"/>
            <a:ext cx="11391900" cy="51339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Object-oriented databases are beneficial in situations where there are complex data structures and relationships.</a:t>
            </a:r>
          </a:p>
          <a:p>
            <a:r>
              <a:rPr lang="en-US" b="1" dirty="0"/>
              <a:t>Multimedia applications</a:t>
            </a:r>
            <a:r>
              <a:rPr lang="en-US" dirty="0"/>
              <a:t>. OODBs store and handle multimedia objects efficiently. Inheritance and encapsulation are advantages when working with this content type.</a:t>
            </a:r>
          </a:p>
          <a:p>
            <a:r>
              <a:rPr lang="en-US" b="1" dirty="0"/>
              <a:t>CAD/CAM systems</a:t>
            </a:r>
            <a:r>
              <a:rPr lang="en-US" dirty="0"/>
              <a:t>. Engineering, automotive, and aerospace applications use CAD/CAM data. This data has highly interconnected elements and is best modeled as database objects.</a:t>
            </a:r>
          </a:p>
          <a:p>
            <a:r>
              <a:rPr lang="en-US" b="1" dirty="0"/>
              <a:t>Geographic information systems (GIS)</a:t>
            </a:r>
            <a:r>
              <a:rPr lang="en-US" dirty="0"/>
              <a:t>. Representing and managing spatial data, such as maps and terrain information, requires complex relationships and properties. These features, such as coordinates and topographical relationships, are best suited for object-oriented structures.</a:t>
            </a:r>
          </a:p>
          <a:p>
            <a:r>
              <a:rPr lang="en-US" b="1" dirty="0"/>
              <a:t>Telecommunications</a:t>
            </a:r>
            <a:r>
              <a:rPr lang="en-US" dirty="0"/>
              <a:t>. OODBs efficiently handle hierarchical and interconnected data structures typical for telecommunication networks. The data includes network configurations, logs, and user preferences.</a:t>
            </a:r>
          </a:p>
          <a:p>
            <a:r>
              <a:rPr lang="en-US" b="1" u="sng" dirty="0">
                <a:hlinkClick r:id="rId2"/>
              </a:rPr>
              <a:t>Real-time systems</a:t>
            </a:r>
            <a:r>
              <a:rPr lang="en-US" dirty="0"/>
              <a:t>. OODBs enable quick updates and retrieval of complex data essential for real-time systems. These technologies are found in industrial automation, robotics, and embedded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343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D5AFD-B352-4BC9-AA52-8EF098CE0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4" y="250825"/>
            <a:ext cx="11191875" cy="11445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object–relational database management system</a:t>
            </a:r>
            <a:r>
              <a:rPr lang="en-US" dirty="0"/>
              <a:t> (</a:t>
            </a:r>
            <a:r>
              <a:rPr lang="en-US" b="1" dirty="0"/>
              <a:t>ORDBMS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F8C45-EAD1-430A-B653-D322EC84A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604963"/>
            <a:ext cx="11106150" cy="18240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 </a:t>
            </a:r>
            <a:r>
              <a:rPr lang="en-US" b="1" dirty="0"/>
              <a:t>object–relational database</a:t>
            </a:r>
            <a:r>
              <a:rPr lang="en-US" dirty="0"/>
              <a:t> (</a:t>
            </a:r>
            <a:r>
              <a:rPr lang="en-US" b="1" dirty="0"/>
              <a:t>ORD</a:t>
            </a:r>
            <a:r>
              <a:rPr lang="en-US" dirty="0"/>
              <a:t>), or </a:t>
            </a:r>
            <a:r>
              <a:rPr lang="en-US" b="1" dirty="0"/>
              <a:t>object–relational database management system</a:t>
            </a:r>
            <a:r>
              <a:rPr lang="en-US" dirty="0"/>
              <a:t> (</a:t>
            </a:r>
            <a:r>
              <a:rPr lang="en-US" b="1" dirty="0"/>
              <a:t>ORDBMS</a:t>
            </a:r>
            <a:r>
              <a:rPr lang="en-US" dirty="0"/>
              <a:t>), is a database management system (DBMS) similar to a relational database, but with an object-oriented database model: objects, classes and inheritance are directly supported in database schemas and in the query language.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AC510D-A504-4857-987D-267EACA79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939" y="3429000"/>
            <a:ext cx="5257562" cy="360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442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C42B-BC78-4E8A-A061-D524D7D3A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53-A668-4659-9540-1B3882428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b="1" dirty="0"/>
              <a:t>Advantages of ORDBMS</a:t>
            </a:r>
            <a:endParaRPr lang="en-IN" dirty="0"/>
          </a:p>
          <a:p>
            <a:pPr lvl="0" fontAlgn="base"/>
            <a:r>
              <a:rPr lang="en-IN" b="1" dirty="0"/>
              <a:t>SQL Support: </a:t>
            </a:r>
            <a:r>
              <a:rPr lang="en-IN" dirty="0"/>
              <a:t>While ORDBMS supports the structures of the SQL query language, they are quite flexible when tested against query language make it easier to handle complex queries unlike OODBMS.</a:t>
            </a:r>
          </a:p>
          <a:p>
            <a:pPr lvl="0" fontAlgn="base"/>
            <a:r>
              <a:rPr lang="en-IN" b="1" dirty="0"/>
              <a:t>Scalability:</a:t>
            </a:r>
            <a:r>
              <a:rPr lang="en-IN" dirty="0"/>
              <a:t> It is easier and can accommodate large data sets as compared to OODBMS due to the fact that it retains the structure of relational databases.</a:t>
            </a:r>
          </a:p>
          <a:p>
            <a:pPr lvl="0" fontAlgn="base"/>
            <a:r>
              <a:rPr lang="en-IN" b="1" dirty="0"/>
              <a:t>Interoperability:</a:t>
            </a:r>
            <a:r>
              <a:rPr lang="en-IN" dirty="0"/>
              <a:t> ORDBMS appears to offer better compatibility with the conventional RDMS thus making it easy to migrate from the conventional normal database to more OOD respectively.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6250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3F87-D061-42DC-9BA5-B583D0582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17771-A599-48B4-8F31-C42B7BC66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b="1" dirty="0"/>
              <a:t>Disadvantages of ORDBMS</a:t>
            </a:r>
            <a:endParaRPr lang="en-IN" dirty="0"/>
          </a:p>
          <a:p>
            <a:pPr lvl="0" fontAlgn="base"/>
            <a:r>
              <a:rPr lang="en-IN" b="1" dirty="0"/>
              <a:t>Complexity in Implementation:</a:t>
            </a:r>
            <a:r>
              <a:rPr lang="en-IN" dirty="0"/>
              <a:t> Although many object-oriented notions are supported by ORDBMS their representation using </a:t>
            </a:r>
            <a:r>
              <a:rPr lang="en-IN" u="sng" dirty="0">
                <a:hlinkClick r:id="rId2"/>
              </a:rPr>
              <a:t>SQL</a:t>
            </a:r>
            <a:r>
              <a:rPr lang="en-IN" dirty="0"/>
              <a:t> can be problematic.</a:t>
            </a:r>
          </a:p>
          <a:p>
            <a:pPr lvl="0" fontAlgn="base"/>
            <a:r>
              <a:rPr lang="en-IN" b="1" dirty="0"/>
              <a:t>Overhead:</a:t>
            </a:r>
            <a:r>
              <a:rPr lang="en-IN" dirty="0"/>
              <a:t> The combination in a hybrid approach causes a certain overhead which does have its influence in cases where only object-oriented or tabular representations are needed.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6618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C3911F-2921-421A-B3A2-A12EF2DE7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099" y="267087"/>
            <a:ext cx="9806433" cy="648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02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0C952-3AFE-4647-A034-7AED7E8D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2200"/>
          </a:xfrm>
        </p:spPr>
        <p:txBody>
          <a:bodyPr/>
          <a:lstStyle/>
          <a:p>
            <a:r>
              <a:rPr lang="en-IN" dirty="0"/>
              <a:t>Object Query Language (OQL)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AC0C9-46F9-48F4-B09B-32AB004F1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1552574"/>
            <a:ext cx="10963275" cy="4940299"/>
          </a:xfrm>
        </p:spPr>
        <p:txBody>
          <a:bodyPr/>
          <a:lstStyle/>
          <a:p>
            <a:r>
              <a:rPr lang="en-IN" dirty="0"/>
              <a:t>Structured Query Language (SQL), which is used for relational databases. </a:t>
            </a:r>
          </a:p>
          <a:p>
            <a:r>
              <a:rPr lang="en-IN" dirty="0"/>
              <a:t>How does OQL work?</a:t>
            </a:r>
          </a:p>
          <a:p>
            <a:pPr lvl="0"/>
            <a:r>
              <a:rPr lang="en-IN" dirty="0"/>
              <a:t>OQL is used to perform queries and retrieve data from object databases. </a:t>
            </a:r>
          </a:p>
          <a:p>
            <a:pPr lvl="0"/>
            <a:r>
              <a:rPr lang="en-IN" dirty="0"/>
              <a:t>OQL is based on SQL and was developed by the Object Data Management Group (ODMG). </a:t>
            </a:r>
          </a:p>
          <a:p>
            <a:pPr lvl="0"/>
            <a:r>
              <a:rPr lang="en-IN" dirty="0"/>
              <a:t>OQL hides the complexity of the SQL schema of the data model. </a:t>
            </a:r>
          </a:p>
          <a:p>
            <a:pPr lvl="0"/>
            <a:r>
              <a:rPr lang="en-IN" dirty="0"/>
              <a:t>OQL is powerful because it can express complex conditions. </a:t>
            </a:r>
          </a:p>
          <a:p>
            <a:r>
              <a:rPr lang="en-IN" dirty="0"/>
              <a:t>OQL is efficient because one OQL query translates into one SQL query. </a:t>
            </a:r>
          </a:p>
          <a:p>
            <a:pPr marL="0" lv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3845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DF43C-B634-4A2B-BE3F-C66E1FBA3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1E895-0D21-409B-B701-4E044C66C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3DF07F-8EE5-47E9-A4D0-517051D21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56" y="135882"/>
            <a:ext cx="10448044" cy="658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01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BB0B6-E0C9-4C7E-9B74-57EAB0B3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19619-C3EC-4D57-B2A5-91D2049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12FC8-BE71-41DA-A8CC-4858847B2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8419"/>
            <a:ext cx="9382125" cy="660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16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B617-F427-4A02-B3EC-824B056C7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7E0A8-E72C-4DC7-A797-76D930BB0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C62E50-238B-413E-808F-C3B8F0734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977" y="279013"/>
            <a:ext cx="5684823" cy="63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43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0E6A6-3651-40CC-9688-2A0E7F6A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FC099-07CD-4196-82CB-7FAD3DED2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4C697D-401B-4CA4-A0CC-1C7295CBF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569" y="1825625"/>
            <a:ext cx="8145012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01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11F5-3373-4716-9D7A-6302C5CAA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CFCB0-F596-4112-A2E3-93F120F56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366AAA-587B-478A-8862-36A2A7B78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37" y="261314"/>
            <a:ext cx="7643813" cy="648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03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2E52-2F78-4968-8B1D-5D97ED0C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FB4D6-EE97-4553-9C86-7D869125D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73FCC-B978-4B49-A9D4-219BE60C7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99" y="1714260"/>
            <a:ext cx="8249801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36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C1237D-3A89-4863-9DFB-2B2F8C434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39" y="246184"/>
            <a:ext cx="5227262" cy="63404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232F33-202D-4896-846B-737B66908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955" y="1825625"/>
            <a:ext cx="6410791" cy="334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56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7B53CA-FC33-4211-85BA-93E5B1C14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514" y="0"/>
            <a:ext cx="6246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90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5587F-A698-439F-B2B1-B7D2846B5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D6BAC-4189-4F57-9426-A35B098B4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008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7D388314CC8B4FA09C902FA02E74A4" ma:contentTypeVersion="4" ma:contentTypeDescription="Create a new document." ma:contentTypeScope="" ma:versionID="69955b94fd07b5415862d2dcefc254b0">
  <xsd:schema xmlns:xsd="http://www.w3.org/2001/XMLSchema" xmlns:xs="http://www.w3.org/2001/XMLSchema" xmlns:p="http://schemas.microsoft.com/office/2006/metadata/properties" xmlns:ns2="6067ace3-38c8-4a5c-8943-81e4a030d6b6" targetNamespace="http://schemas.microsoft.com/office/2006/metadata/properties" ma:root="true" ma:fieldsID="4a33b7e29e72930b6f15ba3a3d57140e" ns2:_="">
    <xsd:import namespace="6067ace3-38c8-4a5c-8943-81e4a030d6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7ace3-38c8-4a5c-8943-81e4a030d6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94528D-D675-4E36-AA86-0F4D9FE4EDAA}"/>
</file>

<file path=customXml/itemProps2.xml><?xml version="1.0" encoding="utf-8"?>
<ds:datastoreItem xmlns:ds="http://schemas.openxmlformats.org/officeDocument/2006/customXml" ds:itemID="{F71A3B1C-123B-4EBE-A546-5EE386BC5BCB}"/>
</file>

<file path=customXml/itemProps3.xml><?xml version="1.0" encoding="utf-8"?>
<ds:datastoreItem xmlns:ds="http://schemas.openxmlformats.org/officeDocument/2006/customXml" ds:itemID="{14D16DD7-B8D4-4E8F-B5E2-C14E5B9F38A7}"/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1056</Words>
  <Application>Microsoft Office PowerPoint</Application>
  <PresentationFormat>Widescreen</PresentationFormat>
  <Paragraphs>74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ORDBMS OODBMS</vt:lpstr>
      <vt:lpstr>ORDBMS stands for Object-Relational Database Management System. It's a type of database management system that combines object-oriented and relational database models.</vt:lpstr>
      <vt:lpstr>PowerPoint Presentation</vt:lpstr>
      <vt:lpstr>Object Oriented Database</vt:lpstr>
      <vt:lpstr>PowerPoint Presentation</vt:lpstr>
      <vt:lpstr>Object-Oriented Database (OODB) </vt:lpstr>
      <vt:lpstr>PowerPoint Presentation</vt:lpstr>
      <vt:lpstr>OODB vs. Relational Databases</vt:lpstr>
      <vt:lpstr>Object-Oriented Programming Concepts in Database Management </vt:lpstr>
      <vt:lpstr>Features of Object-Oriented Databases </vt:lpstr>
      <vt:lpstr>Benefits of Object-Oriented Databases </vt:lpstr>
      <vt:lpstr>Challenges of Object-Oriented Databases </vt:lpstr>
      <vt:lpstr>Object-Orient Databases: Use Cases </vt:lpstr>
      <vt:lpstr>object–relational database management system (ORDBMS)</vt:lpstr>
      <vt:lpstr>PowerPoint Presentation</vt:lpstr>
      <vt:lpstr>PowerPoint Presentation</vt:lpstr>
      <vt:lpstr>PowerPoint Presentation</vt:lpstr>
      <vt:lpstr>Object Query Language (OQL)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Welcome</cp:lastModifiedBy>
  <cp:revision>13</cp:revision>
  <dcterms:created xsi:type="dcterms:W3CDTF">2025-03-05T01:35:25Z</dcterms:created>
  <dcterms:modified xsi:type="dcterms:W3CDTF">2025-03-05T05:42:13Z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0x0101007E7D388314CC8B4FA09C902FA02E74A4</vt:lpwstr>
  </property>
</Properties>
</file>