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57"/>
  </p:notesMasterIdLst>
  <p:sldIdLst>
    <p:sldId id="257" r:id="rId4"/>
    <p:sldId id="258" r:id="rId5"/>
    <p:sldId id="321" r:id="rId6"/>
    <p:sldId id="322" r:id="rId7"/>
    <p:sldId id="323" r:id="rId8"/>
    <p:sldId id="325" r:id="rId9"/>
    <p:sldId id="324" r:id="rId10"/>
    <p:sldId id="290" r:id="rId11"/>
    <p:sldId id="291" r:id="rId12"/>
    <p:sldId id="292" r:id="rId13"/>
    <p:sldId id="259" r:id="rId14"/>
    <p:sldId id="293" r:id="rId15"/>
    <p:sldId id="260" r:id="rId16"/>
    <p:sldId id="294" r:id="rId17"/>
    <p:sldId id="295" r:id="rId18"/>
    <p:sldId id="261" r:id="rId19"/>
    <p:sldId id="296" r:id="rId20"/>
    <p:sldId id="262" r:id="rId21"/>
    <p:sldId id="263" r:id="rId22"/>
    <p:sldId id="285" r:id="rId23"/>
    <p:sldId id="286" r:id="rId24"/>
    <p:sldId id="287" r:id="rId25"/>
    <p:sldId id="289" r:id="rId26"/>
    <p:sldId id="288" r:id="rId27"/>
    <p:sldId id="297" r:id="rId28"/>
    <p:sldId id="298" r:id="rId29"/>
    <p:sldId id="299" r:id="rId30"/>
    <p:sldId id="270" r:id="rId31"/>
    <p:sldId id="271" r:id="rId32"/>
    <p:sldId id="272" r:id="rId33"/>
    <p:sldId id="300" r:id="rId34"/>
    <p:sldId id="275" r:id="rId35"/>
    <p:sldId id="276" r:id="rId36"/>
    <p:sldId id="277" r:id="rId37"/>
    <p:sldId id="278" r:id="rId38"/>
    <p:sldId id="279" r:id="rId39"/>
    <p:sldId id="280" r:id="rId40"/>
    <p:sldId id="282" r:id="rId41"/>
    <p:sldId id="303" r:id="rId42"/>
    <p:sldId id="302" r:id="rId43"/>
    <p:sldId id="304" r:id="rId44"/>
    <p:sldId id="305" r:id="rId45"/>
    <p:sldId id="306" r:id="rId46"/>
    <p:sldId id="307" r:id="rId47"/>
    <p:sldId id="308" r:id="rId48"/>
    <p:sldId id="309" r:id="rId49"/>
    <p:sldId id="314" r:id="rId50"/>
    <p:sldId id="315" r:id="rId51"/>
    <p:sldId id="316" r:id="rId52"/>
    <p:sldId id="317" r:id="rId53"/>
    <p:sldId id="318" r:id="rId54"/>
    <p:sldId id="319" r:id="rId55"/>
    <p:sldId id="320" r:id="rId5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1" autoAdjust="0"/>
    <p:restoredTop sz="94194" autoAdjust="0"/>
  </p:normalViewPr>
  <p:slideViewPr>
    <p:cSldViewPr>
      <p:cViewPr varScale="1">
        <p:scale>
          <a:sx n="105" d="100"/>
          <a:sy n="105" d="100"/>
        </p:scale>
        <p:origin x="172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tableStyles" Target="tableStyle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85A28F-9B72-7C1F-DBE6-E2AE81B644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14E5AB-0307-D730-0D66-C1D4812CE49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8A6A7E51-4BF8-4519-8DDA-086DB0602569}" type="datetimeFigureOut">
              <a:rPr lang="en-US"/>
              <a:pPr>
                <a:defRPr/>
              </a:pPr>
              <a:t>4/4/2025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62B2AC3-AD42-CC6D-F222-EAE6EA6EA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1FC03EA-56E2-4196-ADFF-5F089C338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F49E0-B2AB-A7BC-DAFE-F9AB1D65CF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5039A-5C1E-93B1-A219-9215D5F10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2DF0248-7B5A-418C-82F9-73B0C712763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587DABD6-D642-A34A-1945-0BD56906C2D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9006F4B8-F7F7-9EAB-71BB-4E4A7AC7EB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0AEF44FE-EC67-90E8-454C-368D5CA39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8AB9DB-7D52-40F6-A799-A1176BD7881E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287B9A-EB0E-BCFE-8C5B-E64D7850A1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12C1E8-3629-C4FE-3D66-FC8C7724B3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A74FF1-AE5A-567A-CCAD-55B9B9183D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C6BEB0-EC4E-42C3-9549-B77E3B5B05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9567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C70E17-2F3F-1090-77D1-2FCEBB17C6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E184D8-7A98-D4F3-140F-6065375005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591874-4384-14DD-7FB2-C90CB93E51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EB24E8-1F14-4D71-AB53-B6AC0AC3FC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15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3B78D52-2554-A71D-8929-CAC9FB7F31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329934-A4B9-5082-EBBE-2A11BBA64B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3A8FEE-9CE6-D9B1-C846-49FCBE8730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D59CF1-F364-4D61-B85A-383CDFD15B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477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C0057D-AF26-C595-DCB1-AAF31DA3D1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EEA3B2-1425-D384-F95C-1B9F052128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7EECD-C84C-9EA8-96A6-05405D9733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AFA53D-8586-4E0E-B1C1-5BCBA3B10B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492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E245969-1C3F-45FB-C216-87C1B474EB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3F6CA29-A350-68E8-264B-4267B2E112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34254EE-B226-E3AE-6E10-B96D787C91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BCE4E1-85A9-4244-B015-695EA50E87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490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247F08D-B24E-0927-7A57-9276ECB8E9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622775E-C9DA-82C8-6839-E07D62EA9E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7D15C74-05BB-CE1C-C5D6-31804987C1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23A5FA-A5C8-4580-B8BF-D56854B2DF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327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F1D5FE1-91F3-01F9-1A31-8830E1F364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6D609C4-3229-8166-CA73-FBDF629460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05C6B93-8261-D263-EDC7-48E68D0057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B4F940-9A81-49BB-A524-8B457E4910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266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D4A96C-39C6-665A-0CBA-2527F59D29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557331-C44B-5EDA-954B-DA5BB952DA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6D1933-83A1-E1C1-3555-68EED79104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37EAA7-C2B7-482A-BD1D-5A2036A693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2274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58E268-E28F-B004-E9E6-3FC8005E09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8C2BDA-AE67-18E5-2EC4-4EF7B07921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F8440A-60F9-EE57-0DBE-0258B3970F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C562E-B587-4049-A479-EC958D4861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229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20BC87-155A-32A4-9A6C-7CA12DE505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8980CB-4486-2D1C-D2E2-3FAA0E7404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B5FD62-4A44-5862-FB18-07E0D86977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4DF6E3-2440-498D-9937-5054F20B3F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267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BAF20C-F2C4-1B3C-7E96-191642CAD6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57A432-DFDB-7FCB-FA66-F3685DBF1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F80F01-6D8B-C5F7-27D4-D9FF043176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99AC-4985-4EAC-9B97-EAB559A23C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652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B01F070-0B8B-D68F-800F-8B017561FC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F18C204-D2FD-3E8D-473C-D421990706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342C48-4D9A-1759-6D99-79B5CF5413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1C7A9AC-9AD0-7311-213D-6ED987E3E9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4603050-D1E5-A3E6-7ADC-D548838953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AB399B6F-C47C-47E6-871C-1B61B23328B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10" Type="http://schemas.openxmlformats.org/officeDocument/2006/relationships/image" Target="../media/image3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09FDFB12-6AD6-D7C3-59E3-04CA73F973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1AF73E0-751A-9455-8328-CC3A43D6E5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Unit - 5</a:t>
            </a:r>
          </a:p>
        </p:txBody>
      </p:sp>
      <p:sp>
        <p:nvSpPr>
          <p:cNvPr id="3076" name="Rectangle 1">
            <a:extLst>
              <a:ext uri="{FF2B5EF4-FFF2-40B4-BE49-F238E27FC236}">
                <a16:creationId xmlns:a16="http://schemas.microsoft.com/office/drawing/2014/main" id="{B61A0A4B-EFA6-8393-1F53-C810F3826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03225"/>
            <a:ext cx="83820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Learning </a:t>
            </a:r>
            <a:endParaRPr lang="en-IN" altLang="en-US" sz="2800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0000"/>
                </a:solidFill>
                <a:latin typeface="Book Antiqua" panose="02040602050305030304" pitchFamily="18" charset="0"/>
              </a:rPr>
              <a:t>Inductive learning, Types of learning, supervised - decision trees classification, unsupervised learning :K-means clustering. 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9149304-06C5-36AA-B587-734D48ED8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8ED919C-85D0-8491-81EA-092BD2CD91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en-US"/>
              <a:t>General Concepts </a:t>
            </a:r>
          </a:p>
          <a:p>
            <a:pPr eaLnBrk="1" hangingPunct="1"/>
            <a:r>
              <a:rPr lang="en-US" altLang="en-US"/>
              <a:t>Learning agents</a:t>
            </a:r>
          </a:p>
          <a:p>
            <a:pPr eaLnBrk="1" hangingPunct="1"/>
            <a:r>
              <a:rPr lang="en-US" altLang="en-US"/>
              <a:t>Inductive learning </a:t>
            </a:r>
          </a:p>
          <a:p>
            <a:pPr eaLnBrk="1" hangingPunct="1"/>
            <a:r>
              <a:rPr lang="en-US" altLang="en-US"/>
              <a:t>Types of learning </a:t>
            </a:r>
          </a:p>
          <a:p>
            <a:pPr eaLnBrk="1" hangingPunct="1"/>
            <a:r>
              <a:rPr lang="en-US" altLang="en-US"/>
              <a:t>Supervised Learning</a:t>
            </a:r>
          </a:p>
          <a:p>
            <a:pPr lvl="1" eaLnBrk="1" hangingPunct="1"/>
            <a:r>
              <a:rPr lang="en-US" altLang="en-US"/>
              <a:t>Decision trees classification </a:t>
            </a:r>
          </a:p>
          <a:p>
            <a:pPr eaLnBrk="1" hangingPunct="1"/>
            <a:r>
              <a:rPr lang="en-US" altLang="en-US"/>
              <a:t>Unsupervised learning </a:t>
            </a:r>
          </a:p>
          <a:p>
            <a:pPr lvl="1" eaLnBrk="1" hangingPunct="1"/>
            <a:r>
              <a:rPr lang="en-US" altLang="en-US"/>
              <a:t>K-means clustering.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476B7C3B-81DC-AEAB-4482-AC0A0E2CB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Example: - classification</a:t>
            </a: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BA468C1E-CC1B-34F9-1EE6-224A7B8652EC}"/>
              </a:ext>
            </a:extLst>
          </p:cNvPr>
          <p:cNvSpPr/>
          <p:nvPr/>
        </p:nvSpPr>
        <p:spPr>
          <a:xfrm>
            <a:off x="304800" y="1981200"/>
            <a:ext cx="8534400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1588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D428714D-FF40-F9AE-C6B2-2ABF0683D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2800" y="153988"/>
            <a:ext cx="5486400" cy="639762"/>
          </a:xfrm>
        </p:spPr>
        <p:txBody>
          <a:bodyPr/>
          <a:lstStyle/>
          <a:p>
            <a:r>
              <a:rPr lang="en-IN" altLang="en-US" sz="3200"/>
              <a:t>Example: clustering</a:t>
            </a:r>
          </a:p>
        </p:txBody>
      </p:sp>
      <p:sp>
        <p:nvSpPr>
          <p:cNvPr id="6147" name="TextBox 4">
            <a:extLst>
              <a:ext uri="{FF2B5EF4-FFF2-40B4-BE49-F238E27FC236}">
                <a16:creationId xmlns:a16="http://schemas.microsoft.com/office/drawing/2014/main" id="{C8598A92-1EDB-ED37-E388-A6FB4F609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2087563"/>
            <a:ext cx="208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/>
              <a:t>Ultrasound Image</a:t>
            </a:r>
          </a:p>
        </p:txBody>
      </p:sp>
      <p:grpSp>
        <p:nvGrpSpPr>
          <p:cNvPr id="6148" name="Group 32">
            <a:extLst>
              <a:ext uri="{FF2B5EF4-FFF2-40B4-BE49-F238E27FC236}">
                <a16:creationId xmlns:a16="http://schemas.microsoft.com/office/drawing/2014/main" id="{F6176537-4757-363C-A2C7-B148802C90BE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171700"/>
            <a:ext cx="7405688" cy="4535488"/>
            <a:chOff x="1893888" y="794171"/>
            <a:chExt cx="6568122" cy="4536174"/>
          </a:xfrm>
        </p:grpSpPr>
        <p:graphicFrame>
          <p:nvGraphicFramePr>
            <p:cNvPr id="6151" name="Object 2">
              <a:extLst>
                <a:ext uri="{FF2B5EF4-FFF2-40B4-BE49-F238E27FC236}">
                  <a16:creationId xmlns:a16="http://schemas.microsoft.com/office/drawing/2014/main" id="{DB700C31-3632-7BA4-050F-E09A08B1A3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3888" y="1195388"/>
            <a:ext cx="4049712" cy="3300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Slide" r:id="rId2" imgW="602246" imgH="451380" progId="PowerPoint.Slide.12">
                    <p:embed/>
                  </p:oleObj>
                </mc:Choice>
                <mc:Fallback>
                  <p:oleObj name="Slide" r:id="rId2" imgW="602246" imgH="451380" progId="PowerPoint.Slide.12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3888" y="1195388"/>
                          <a:ext cx="4049712" cy="3300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2" name="TextBox 34">
              <a:extLst>
                <a:ext uri="{FF2B5EF4-FFF2-40B4-BE49-F238E27FC236}">
                  <a16:creationId xmlns:a16="http://schemas.microsoft.com/office/drawing/2014/main" id="{2773C660-FA23-38CB-D70D-C272A0310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1" y="4507468"/>
              <a:ext cx="136659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 set</a:t>
              </a:r>
            </a:p>
          </p:txBody>
        </p:sp>
        <p:grpSp>
          <p:nvGrpSpPr>
            <p:cNvPr id="6153" name="Group 35">
              <a:extLst>
                <a:ext uri="{FF2B5EF4-FFF2-40B4-BE49-F238E27FC236}">
                  <a16:creationId xmlns:a16="http://schemas.microsoft.com/office/drawing/2014/main" id="{926E009D-D480-280E-4887-9D3B3D336C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52210" y="794171"/>
              <a:ext cx="1752213" cy="4508085"/>
              <a:chOff x="4728210" y="794170"/>
              <a:chExt cx="1752213" cy="4508085"/>
            </a:xfrm>
          </p:grpSpPr>
          <p:graphicFrame>
            <p:nvGraphicFramePr>
              <p:cNvPr id="39" name="Content Placeholder 9">
                <a:extLst>
                  <a:ext uri="{FF2B5EF4-FFF2-40B4-BE49-F238E27FC236}">
                    <a16:creationId xmlns:a16="http://schemas.microsoft.com/office/drawing/2014/main" id="{E11ED68E-A35C-4021-4292-09B354E3194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728210" y="794170"/>
              <a:ext cx="1283947" cy="4508085"/>
            </p:xfrm>
            <a:graphic>
              <a:graphicData uri="http://schemas.openxmlformats.org/drawingml/2006/table">
                <a:tbl>
                  <a:tblPr/>
                  <a:tblGrid>
                    <a:gridCol w="36191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63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750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1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86471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100" b="0" i="0" u="none" strike="noStrike" baseline="-25000" dirty="0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100" b="0" i="0" u="none" strike="noStrike" baseline="-25000" dirty="0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13">
                      <a:txBody>
                        <a:bodyPr/>
                        <a:lstStyle/>
                        <a:p>
                          <a:pPr algn="ctr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6471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100" b="0" i="0" u="none" strike="noStrike" baseline="-25000" dirty="0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100" b="0" i="0" u="none" strike="noStrike" baseline="-25000" dirty="0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latin typeface="+mn-lt"/>
                          </a:endParaRP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64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647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6364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000" b="1" i="0" u="none" strike="noStrike" dirty="0">
                            <a:solidFill>
                              <a:srgbClr val="FF0000"/>
                            </a:solidFill>
                            <a:latin typeface="Verdana" pitchFamily="34" charset="0"/>
                            <a:ea typeface="Verdana" pitchFamily="34" charset="0"/>
                            <a:cs typeface="Verdana" pitchFamily="34" charset="0"/>
                          </a:endParaRP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l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0190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0190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83802"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807571">
                    <a:tc gridSpan="2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400" b="1" i="0" u="none" strike="noStrike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.              .</a:t>
                          </a:r>
                        </a:p>
                        <a:p>
                          <a:pPr algn="ctr" fontAlgn="b"/>
                          <a:r>
                            <a:rPr lang="en-US" sz="2400" b="1" i="0" u="none" strike="noStrike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.</a:t>
                          </a:r>
                          <a:endParaRPr lang="en-US" sz="2400" b="1" i="0" u="none" strike="noStrike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  <a:p>
                          <a:pPr algn="ctr" fontAlgn="b"/>
                          <a:r>
                            <a:rPr lang="en-US" sz="2400" b="1" i="0" u="none" strike="noStrike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 </a:t>
                          </a:r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            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latin typeface="Castellar" pitchFamily="18" charset="0"/>
                          </a:endParaRPr>
                        </a:p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2851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100" b="0" i="0" u="none" strike="noStrike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400" b="1" i="0" u="none" strike="noStrike" dirty="0">
                            <a:solidFill>
                              <a:srgbClr val="FF0000"/>
                            </a:solidFill>
                            <a:latin typeface="Verdana" pitchFamily="34" charset="0"/>
                            <a:ea typeface="Verdana" pitchFamily="34" charset="0"/>
                            <a:cs typeface="Verdana" pitchFamily="34" charset="0"/>
                          </a:endParaRP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latin typeface="Calibri"/>
                          </a:endParaRP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53327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4228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a:t> </a:t>
                          </a:r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83802">
                    <a:tc>
                      <a:txBody>
                        <a:bodyPr/>
                        <a:lstStyle/>
                        <a:p>
                          <a:endParaRPr lang="en-US" sz="1800"/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800" dirty="0"/>
                        </a:p>
                      </a:txBody>
                      <a:tcPr marL="9524" marR="9524" marT="9524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</a:tbl>
              </a:graphicData>
            </a:graphic>
          </p:graphicFrame>
          <p:sp>
            <p:nvSpPr>
              <p:cNvPr id="40" name="Left Brace 39">
                <a:extLst>
                  <a:ext uri="{FF2B5EF4-FFF2-40B4-BE49-F238E27FC236}">
                    <a16:creationId xmlns:a16="http://schemas.microsoft.com/office/drawing/2014/main" id="{B01290DF-B267-C94A-F1A6-89C9B042C8A7}"/>
                  </a:ext>
                </a:extLst>
              </p:cNvPr>
              <p:cNvSpPr/>
              <p:nvPr/>
            </p:nvSpPr>
            <p:spPr>
              <a:xfrm flipH="1">
                <a:off x="6252334" y="805285"/>
                <a:ext cx="228089" cy="533481"/>
              </a:xfrm>
              <a:prstGeom prst="leftBrace">
                <a:avLst>
                  <a:gd name="adj1" fmla="val 71333"/>
                  <a:gd name="adj2" fmla="val 50000"/>
                </a:avLst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1" name="Left Brace 40">
                <a:extLst>
                  <a:ext uri="{FF2B5EF4-FFF2-40B4-BE49-F238E27FC236}">
                    <a16:creationId xmlns:a16="http://schemas.microsoft.com/office/drawing/2014/main" id="{9ACA58CA-1F40-F436-5B90-4DB6319573BA}"/>
                  </a:ext>
                </a:extLst>
              </p:cNvPr>
              <p:cNvSpPr/>
              <p:nvPr/>
            </p:nvSpPr>
            <p:spPr>
              <a:xfrm flipH="1">
                <a:off x="6252334" y="1414977"/>
                <a:ext cx="228089" cy="533481"/>
              </a:xfrm>
              <a:prstGeom prst="leftBrace">
                <a:avLst>
                  <a:gd name="adj1" fmla="val 71333"/>
                  <a:gd name="adj2" fmla="val 50000"/>
                </a:avLst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" name="Left Brace 41">
                <a:extLst>
                  <a:ext uri="{FF2B5EF4-FFF2-40B4-BE49-F238E27FC236}">
                    <a16:creationId xmlns:a16="http://schemas.microsoft.com/office/drawing/2014/main" id="{34593E62-0A81-4FD4-FB5D-5979681FDE8A}"/>
                  </a:ext>
                </a:extLst>
              </p:cNvPr>
              <p:cNvSpPr/>
              <p:nvPr/>
            </p:nvSpPr>
            <p:spPr>
              <a:xfrm flipH="1">
                <a:off x="6252334" y="2024669"/>
                <a:ext cx="228089" cy="533481"/>
              </a:xfrm>
              <a:prstGeom prst="leftBrace">
                <a:avLst>
                  <a:gd name="adj1" fmla="val 71333"/>
                  <a:gd name="adj2" fmla="val 50000"/>
                </a:avLst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3" name="Left Brace 42">
                <a:extLst>
                  <a:ext uri="{FF2B5EF4-FFF2-40B4-BE49-F238E27FC236}">
                    <a16:creationId xmlns:a16="http://schemas.microsoft.com/office/drawing/2014/main" id="{DE9AE9C2-4587-DAA5-3640-96C9902BAF08}"/>
                  </a:ext>
                </a:extLst>
              </p:cNvPr>
              <p:cNvSpPr/>
              <p:nvPr/>
            </p:nvSpPr>
            <p:spPr>
              <a:xfrm flipH="1">
                <a:off x="6252334" y="2634361"/>
                <a:ext cx="228089" cy="533481"/>
              </a:xfrm>
              <a:prstGeom prst="leftBrace">
                <a:avLst>
                  <a:gd name="adj1" fmla="val 71333"/>
                  <a:gd name="adj2" fmla="val 50000"/>
                </a:avLst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Left Brace 43">
                <a:extLst>
                  <a:ext uri="{FF2B5EF4-FFF2-40B4-BE49-F238E27FC236}">
                    <a16:creationId xmlns:a16="http://schemas.microsoft.com/office/drawing/2014/main" id="{88A81FE4-B06A-3F44-1BDB-744D2EA689EA}"/>
                  </a:ext>
                </a:extLst>
              </p:cNvPr>
              <p:cNvSpPr/>
              <p:nvPr/>
            </p:nvSpPr>
            <p:spPr>
              <a:xfrm flipH="1">
                <a:off x="6252334" y="3167842"/>
                <a:ext cx="228089" cy="533481"/>
              </a:xfrm>
              <a:prstGeom prst="leftBrace">
                <a:avLst>
                  <a:gd name="adj1" fmla="val 71333"/>
                  <a:gd name="adj2" fmla="val 50000"/>
                </a:avLst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5" name="Left Brace 44">
                <a:extLst>
                  <a:ext uri="{FF2B5EF4-FFF2-40B4-BE49-F238E27FC236}">
                    <a16:creationId xmlns:a16="http://schemas.microsoft.com/office/drawing/2014/main" id="{A356A57F-8C33-EA38-50B4-CACE211DDB85}"/>
                  </a:ext>
                </a:extLst>
              </p:cNvPr>
              <p:cNvSpPr/>
              <p:nvPr/>
            </p:nvSpPr>
            <p:spPr>
              <a:xfrm flipH="1">
                <a:off x="6252334" y="3701323"/>
                <a:ext cx="228089" cy="533481"/>
              </a:xfrm>
              <a:prstGeom prst="leftBrace">
                <a:avLst>
                  <a:gd name="adj1" fmla="val 71333"/>
                  <a:gd name="adj2" fmla="val 50000"/>
                </a:avLst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6" name="Left Brace 45">
                <a:extLst>
                  <a:ext uri="{FF2B5EF4-FFF2-40B4-BE49-F238E27FC236}">
                    <a16:creationId xmlns:a16="http://schemas.microsoft.com/office/drawing/2014/main" id="{75EACEF4-DC6F-323F-C579-B394ECC75D02}"/>
                  </a:ext>
                </a:extLst>
              </p:cNvPr>
              <p:cNvSpPr/>
              <p:nvPr/>
            </p:nvSpPr>
            <p:spPr>
              <a:xfrm flipH="1">
                <a:off x="6252334" y="4234804"/>
                <a:ext cx="228089" cy="533481"/>
              </a:xfrm>
              <a:prstGeom prst="leftBrace">
                <a:avLst>
                  <a:gd name="adj1" fmla="val 71333"/>
                  <a:gd name="adj2" fmla="val 50000"/>
                </a:avLst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7" name="Left Brace 46">
                <a:extLst>
                  <a:ext uri="{FF2B5EF4-FFF2-40B4-BE49-F238E27FC236}">
                    <a16:creationId xmlns:a16="http://schemas.microsoft.com/office/drawing/2014/main" id="{426BD271-84D4-AB22-8F72-D01C8D008539}"/>
                  </a:ext>
                </a:extLst>
              </p:cNvPr>
              <p:cNvSpPr/>
              <p:nvPr/>
            </p:nvSpPr>
            <p:spPr>
              <a:xfrm flipH="1">
                <a:off x="6252334" y="4768284"/>
                <a:ext cx="228089" cy="533481"/>
              </a:xfrm>
              <a:prstGeom prst="leftBrace">
                <a:avLst>
                  <a:gd name="adj1" fmla="val 71333"/>
                  <a:gd name="adj2" fmla="val 50000"/>
                </a:avLst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37" name="Right Arrow 36">
              <a:extLst>
                <a:ext uri="{FF2B5EF4-FFF2-40B4-BE49-F238E27FC236}">
                  <a16:creationId xmlns:a16="http://schemas.microsoft.com/office/drawing/2014/main" id="{5016DCEA-967B-8CA5-52C7-46DDD9183B6D}"/>
                </a:ext>
              </a:extLst>
            </p:cNvPr>
            <p:cNvSpPr/>
            <p:nvPr/>
          </p:nvSpPr>
          <p:spPr>
            <a:xfrm>
              <a:off x="5943174" y="2743916"/>
              <a:ext cx="305527" cy="60810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155" name="TextBox 37">
              <a:extLst>
                <a:ext uri="{FF2B5EF4-FFF2-40B4-BE49-F238E27FC236}">
                  <a16:creationId xmlns:a16="http://schemas.microsoft.com/office/drawing/2014/main" id="{E4E76F01-A5B7-B8A7-0A73-B5989F0130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8610" y="806030"/>
              <a:ext cx="533400" cy="4524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B0F0"/>
                  </a:solidFill>
                </a:rPr>
                <a:t>C1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 b="1">
                <a:solidFill>
                  <a:srgbClr val="00B0F0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B0F0"/>
                  </a:solidFill>
                </a:rPr>
                <a:t>C2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 b="1">
                <a:solidFill>
                  <a:srgbClr val="00B0F0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B0F0"/>
                  </a:solidFill>
                </a:rPr>
                <a:t>C3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 b="1">
                <a:solidFill>
                  <a:srgbClr val="00B0F0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 b="1">
                <a:solidFill>
                  <a:srgbClr val="00B0F0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B0F0"/>
                  </a:solidFill>
                </a:rPr>
                <a:t>C4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 b="1">
                <a:solidFill>
                  <a:srgbClr val="00B0F0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B0F0"/>
                  </a:solidFill>
                </a:rPr>
                <a:t>C5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 b="1">
                <a:solidFill>
                  <a:srgbClr val="00B0F0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B0F0"/>
                  </a:solidFill>
                </a:rPr>
                <a:t>C6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 b="1">
                <a:solidFill>
                  <a:srgbClr val="00B0F0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B0F0"/>
                  </a:solidFill>
                </a:rPr>
                <a:t>C7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 b="1">
                <a:solidFill>
                  <a:srgbClr val="00B0F0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B0F0"/>
                  </a:solidFill>
                </a:rPr>
                <a:t>C8</a:t>
              </a:r>
            </a:p>
          </p:txBody>
        </p:sp>
      </p:grpSp>
      <p:pic>
        <p:nvPicPr>
          <p:cNvPr id="6149" name="Picture 47" descr="E:\PHD\Pravin-PhD Thesis\chapter 2- Segmentation based on VQ\chapter images\KMCG\BC23\seg\8.jpg">
            <a:extLst>
              <a:ext uri="{FF2B5EF4-FFF2-40B4-BE49-F238E27FC236}">
                <a16:creationId xmlns:a16="http://schemas.microsoft.com/office/drawing/2014/main" id="{ED2F5075-AF26-4416-FA1B-D8216392A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292100"/>
            <a:ext cx="231775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0" name="TextBox 48">
            <a:extLst>
              <a:ext uri="{FF2B5EF4-FFF2-40B4-BE49-F238E27FC236}">
                <a16:creationId xmlns:a16="http://schemas.microsoft.com/office/drawing/2014/main" id="{4961C8D3-DB54-1320-AAC9-F422D3EE1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1363" y="1673225"/>
            <a:ext cx="5724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/>
              <a:t>Formation of clusters using VQ based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7D17FB21-D90B-D7DB-7D6A-EC67BE9768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0400" y="463550"/>
            <a:ext cx="5683250" cy="990600"/>
          </a:xfrm>
        </p:spPr>
        <p:txBody>
          <a:bodyPr/>
          <a:lstStyle/>
          <a:p>
            <a:r>
              <a:rPr lang="en-US" altLang="en-US" sz="3200" b="1">
                <a:solidFill>
                  <a:srgbClr val="0070C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Clusters converted </a:t>
            </a:r>
            <a:br>
              <a:rPr lang="en-US" altLang="en-US" sz="3200" b="1">
                <a:solidFill>
                  <a:srgbClr val="0070C0"/>
                </a:solidFill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altLang="en-US" sz="3200" b="1">
                <a:solidFill>
                  <a:srgbClr val="0070C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to images</a:t>
            </a: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791AD9CE-77AB-8553-1DAF-D40B8B313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DDCC3D-CAA7-48DB-A55F-7728273CAD2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pic>
        <p:nvPicPr>
          <p:cNvPr id="7172" name="Picture 13" descr="A1">
            <a:extLst>
              <a:ext uri="{FF2B5EF4-FFF2-40B4-BE49-F238E27FC236}">
                <a16:creationId xmlns:a16="http://schemas.microsoft.com/office/drawing/2014/main" id="{11C7A6BE-D46C-5EED-5AF3-B1690E54E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2411413"/>
            <a:ext cx="1752600" cy="13446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29" descr="A2">
            <a:extLst>
              <a:ext uri="{FF2B5EF4-FFF2-40B4-BE49-F238E27FC236}">
                <a16:creationId xmlns:a16="http://schemas.microsoft.com/office/drawing/2014/main" id="{147F7DFC-0115-D02A-1411-F72D5F791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2411413"/>
            <a:ext cx="1749425" cy="13446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22" descr="A3">
            <a:extLst>
              <a:ext uri="{FF2B5EF4-FFF2-40B4-BE49-F238E27FC236}">
                <a16:creationId xmlns:a16="http://schemas.microsoft.com/office/drawing/2014/main" id="{9A832B0D-56C8-7C19-31C2-01FC5B853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2411413"/>
            <a:ext cx="1724025" cy="13446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5" name="Picture 21" descr="A4">
            <a:extLst>
              <a:ext uri="{FF2B5EF4-FFF2-40B4-BE49-F238E27FC236}">
                <a16:creationId xmlns:a16="http://schemas.microsoft.com/office/drawing/2014/main" id="{4D211A5E-E1F9-A45F-9108-2145A6352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425" y="2411413"/>
            <a:ext cx="1749425" cy="13446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16" descr="A5">
            <a:extLst>
              <a:ext uri="{FF2B5EF4-FFF2-40B4-BE49-F238E27FC236}">
                <a16:creationId xmlns:a16="http://schemas.microsoft.com/office/drawing/2014/main" id="{3B6BC814-3815-8B1B-3507-97A0A823D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4391025"/>
            <a:ext cx="1749425" cy="13446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7" name="Picture 15" descr="A6">
            <a:extLst>
              <a:ext uri="{FF2B5EF4-FFF2-40B4-BE49-F238E27FC236}">
                <a16:creationId xmlns:a16="http://schemas.microsoft.com/office/drawing/2014/main" id="{4B0E3D31-AB25-AD8F-6AD7-549613D9C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4391025"/>
            <a:ext cx="1749425" cy="13446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4" descr="A7">
            <a:extLst>
              <a:ext uri="{FF2B5EF4-FFF2-40B4-BE49-F238E27FC236}">
                <a16:creationId xmlns:a16="http://schemas.microsoft.com/office/drawing/2014/main" id="{84AC3342-EE99-CF48-586C-95E7812E8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825" y="4394200"/>
            <a:ext cx="1749425" cy="1343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9" name="Picture 30" descr="A8">
            <a:extLst>
              <a:ext uri="{FF2B5EF4-FFF2-40B4-BE49-F238E27FC236}">
                <a16:creationId xmlns:a16="http://schemas.microsoft.com/office/drawing/2014/main" id="{F648671A-70BF-6327-07F2-7B97414F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825" y="4389438"/>
            <a:ext cx="1724025" cy="1323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3" descr="E:\PHD\Pravin-PhD Thesis\chapter 2- Segmentation based on VQ\chapter images\KMCG\BC23\seg\8.jpg">
            <a:extLst>
              <a:ext uri="{FF2B5EF4-FFF2-40B4-BE49-F238E27FC236}">
                <a16:creationId xmlns:a16="http://schemas.microsoft.com/office/drawing/2014/main" id="{2021065D-A144-2615-5BBD-02495248A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152400"/>
            <a:ext cx="2470150" cy="196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1" name="TextBox 14">
            <a:extLst>
              <a:ext uri="{FF2B5EF4-FFF2-40B4-BE49-F238E27FC236}">
                <a16:creationId xmlns:a16="http://schemas.microsoft.com/office/drawing/2014/main" id="{3DF96D56-3572-317D-EEB0-6F6FFBC8A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817938"/>
            <a:ext cx="79692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Cluster 1	                      Cluster 2	            Cluster 3	                Cluster 4</a:t>
            </a:r>
          </a:p>
        </p:txBody>
      </p:sp>
      <p:sp>
        <p:nvSpPr>
          <p:cNvPr id="7182" name="TextBox 15">
            <a:extLst>
              <a:ext uri="{FF2B5EF4-FFF2-40B4-BE49-F238E27FC236}">
                <a16:creationId xmlns:a16="http://schemas.microsoft.com/office/drawing/2014/main" id="{AA3F3747-09DE-49A7-46DE-493A75784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791200"/>
            <a:ext cx="81295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Cluster 5	                            Cluster 6	                Cluster 7	                     Cluster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D8649595-08F1-3F85-CB95-E13FEC0FA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Final Result – validated cluster</a:t>
            </a:r>
          </a:p>
        </p:txBody>
      </p:sp>
      <p:grpSp>
        <p:nvGrpSpPr>
          <p:cNvPr id="8195" name="Group 3">
            <a:extLst>
              <a:ext uri="{FF2B5EF4-FFF2-40B4-BE49-F238E27FC236}">
                <a16:creationId xmlns:a16="http://schemas.microsoft.com/office/drawing/2014/main" id="{E41B99E3-9ED4-CB18-DADD-ACC07A13227D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184400"/>
            <a:ext cx="8305800" cy="3008313"/>
            <a:chOff x="1645920" y="896928"/>
            <a:chExt cx="8945880" cy="3009572"/>
          </a:xfrm>
        </p:grpSpPr>
        <p:pic>
          <p:nvPicPr>
            <p:cNvPr id="8196" name="Picture 4" descr="C:\PHD\Pravin-PhD Thesis\chapter 2- Segmentation based on VQ\chapter images\LBG\bc23\clust\1.jpg">
              <a:extLst>
                <a:ext uri="{FF2B5EF4-FFF2-40B4-BE49-F238E27FC236}">
                  <a16:creationId xmlns:a16="http://schemas.microsoft.com/office/drawing/2014/main" id="{51380BD0-CC92-8615-6FC6-9433CCCA7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2400" y="1828800"/>
              <a:ext cx="2011680" cy="1554480"/>
            </a:xfrm>
            <a:prstGeom prst="rect">
              <a:avLst/>
            </a:prstGeom>
            <a:noFill/>
            <a:ln w="3175" cap="sq" cmpd="dbl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97" name="Picture 5" descr="C:\PHD\Pravin-PhD Thesis\chapter 2- Segmentation based on VQ\chapter images\LBG\bc23\sup\1.jpg">
              <a:extLst>
                <a:ext uri="{FF2B5EF4-FFF2-40B4-BE49-F238E27FC236}">
                  <a16:creationId xmlns:a16="http://schemas.microsoft.com/office/drawing/2014/main" id="{772E658A-C9D8-CA8A-A345-7AF3B93562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1828800"/>
              <a:ext cx="2011680" cy="1554480"/>
            </a:xfrm>
            <a:prstGeom prst="rect">
              <a:avLst/>
            </a:prstGeom>
            <a:noFill/>
            <a:ln w="3175" cap="sq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E9D55A5D-72BE-D4D4-EBFF-60D4DCA1BFC0}"/>
                </a:ext>
              </a:extLst>
            </p:cNvPr>
            <p:cNvSpPr/>
            <p:nvPr/>
          </p:nvSpPr>
          <p:spPr>
            <a:xfrm>
              <a:off x="3733635" y="2240515"/>
              <a:ext cx="229118" cy="53362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8199" name="Picture 7" descr="E:\PHD\Pravin-PhD Thesis\chapter 2- Segmentation based on VQ\chapter images\KMCG\BC23\seg\8.jpg">
              <a:extLst>
                <a:ext uri="{FF2B5EF4-FFF2-40B4-BE49-F238E27FC236}">
                  <a16:creationId xmlns:a16="http://schemas.microsoft.com/office/drawing/2014/main" id="{637F7C5F-1E6D-2AE0-E401-7AECC1856B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5920" y="1828800"/>
              <a:ext cx="2011680" cy="1554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0" name="TextBox 8">
              <a:extLst>
                <a:ext uri="{FF2B5EF4-FFF2-40B4-BE49-F238E27FC236}">
                  <a16:creationId xmlns:a16="http://schemas.microsoft.com/office/drawing/2014/main" id="{0661D3E4-4756-F023-E0E3-2FEFCA7E4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1" y="3383281"/>
              <a:ext cx="165942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70C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Original image</a:t>
              </a:r>
            </a:p>
          </p:txBody>
        </p:sp>
        <p:sp>
          <p:nvSpPr>
            <p:cNvPr id="8201" name="TextBox 9">
              <a:extLst>
                <a:ext uri="{FF2B5EF4-FFF2-40B4-BE49-F238E27FC236}">
                  <a16:creationId xmlns:a16="http://schemas.microsoft.com/office/drawing/2014/main" id="{AE792A66-5550-E598-4FC0-C83FF2345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3383281"/>
              <a:ext cx="17764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70C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Post processing</a:t>
              </a:r>
            </a:p>
          </p:txBody>
        </p:sp>
        <p:sp>
          <p:nvSpPr>
            <p:cNvPr id="8202" name="TextBox 10">
              <a:extLst>
                <a:ext uri="{FF2B5EF4-FFF2-40B4-BE49-F238E27FC236}">
                  <a16:creationId xmlns:a16="http://schemas.microsoft.com/office/drawing/2014/main" id="{8D4AC058-32E4-AF78-C70B-640354076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1" y="3383280"/>
              <a:ext cx="185820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70C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Extracted region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70C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  </a:t>
              </a:r>
              <a:r>
                <a:rPr lang="en-US" altLang="en-US" sz="1400" b="1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(First cluster)</a:t>
              </a:r>
            </a:p>
          </p:txBody>
        </p:sp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687DC85A-9153-EDB5-DC52-A334B822C5CF}"/>
                </a:ext>
              </a:extLst>
            </p:cNvPr>
            <p:cNvSpPr/>
            <p:nvPr/>
          </p:nvSpPr>
          <p:spPr>
            <a:xfrm>
              <a:off x="6019689" y="2240515"/>
              <a:ext cx="229118" cy="53362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C8A8E36A-93DF-9B22-0CC8-94F0A9A3D6DD}"/>
                </a:ext>
              </a:extLst>
            </p:cNvPr>
            <p:cNvSpPr/>
            <p:nvPr/>
          </p:nvSpPr>
          <p:spPr>
            <a:xfrm>
              <a:off x="8305745" y="2240515"/>
              <a:ext cx="229118" cy="53362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8205" name="Picture 13" descr="C:\MATLAB7\work\chapter-5 programs\kfcg-AVG3x3\lbgoutput\bc1\sup\2.jpg">
              <a:extLst>
                <a:ext uri="{FF2B5EF4-FFF2-40B4-BE49-F238E27FC236}">
                  <a16:creationId xmlns:a16="http://schemas.microsoft.com/office/drawing/2014/main" id="{226616AC-40B6-A7EA-2992-B0A102455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80120" y="1850886"/>
              <a:ext cx="2011680" cy="1554480"/>
            </a:xfrm>
            <a:prstGeom prst="rect">
              <a:avLst/>
            </a:prstGeom>
            <a:noFill/>
            <a:ln w="25400">
              <a:solidFill>
                <a:srgbClr val="00B0F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206" name="TextBox 14">
              <a:extLst>
                <a:ext uri="{FF2B5EF4-FFF2-40B4-BE49-F238E27FC236}">
                  <a16:creationId xmlns:a16="http://schemas.microsoft.com/office/drawing/2014/main" id="{1116113F-751C-CCC7-31FA-E3D990BBD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0860" y="3405366"/>
              <a:ext cx="14302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solidFill>
                    <a:srgbClr val="0070C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Final Result </a:t>
              </a:r>
            </a:p>
          </p:txBody>
        </p:sp>
        <p:sp>
          <p:nvSpPr>
            <p:cNvPr id="8207" name="TextBox 15">
              <a:extLst>
                <a:ext uri="{FF2B5EF4-FFF2-40B4-BE49-F238E27FC236}">
                  <a16:creationId xmlns:a16="http://schemas.microsoft.com/office/drawing/2014/main" id="{FEB16589-2690-A3D6-8C27-3DD316FAE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3871" y="896928"/>
              <a:ext cx="1817789" cy="461665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rgbClr val="0070C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Largest area consider as ROI</a:t>
              </a:r>
              <a:r>
                <a:rPr lang="en-US" altLang="en-US" sz="12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 </a:t>
              </a:r>
            </a:p>
          </p:txBody>
        </p:sp>
        <p:sp>
          <p:nvSpPr>
            <p:cNvPr id="8208" name="TextBox 16">
              <a:extLst>
                <a:ext uri="{FF2B5EF4-FFF2-40B4-BE49-F238E27FC236}">
                  <a16:creationId xmlns:a16="http://schemas.microsoft.com/office/drawing/2014/main" id="{F452BE0B-4EAA-7B2F-2CDB-84D890139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699" y="936579"/>
              <a:ext cx="2581642" cy="461665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1">
                  <a:solidFill>
                    <a:srgbClr val="0070C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Other regions merged with the background</a:t>
              </a:r>
              <a:endParaRPr lang="en-US" altLang="en-US"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1C94F61-FC50-6268-97CE-F0669FE29B07}"/>
                </a:ext>
              </a:extLst>
            </p:cNvPr>
            <p:cNvCxnSpPr/>
            <p:nvPr/>
          </p:nvCxnSpPr>
          <p:spPr>
            <a:xfrm rot="16200000" flipH="1">
              <a:off x="3847829" y="1562946"/>
              <a:ext cx="838551" cy="608703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74A54A2-172C-4B04-1C38-B3DDD1401F4D}"/>
                </a:ext>
              </a:extLst>
            </p:cNvPr>
            <p:cNvCxnSpPr/>
            <p:nvPr/>
          </p:nvCxnSpPr>
          <p:spPr>
            <a:xfrm rot="5400000">
              <a:off x="5143532" y="1486358"/>
              <a:ext cx="762319" cy="68564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B9884CA-967D-45B2-DD27-A2F68DFDB171}"/>
                </a:ext>
              </a:extLst>
            </p:cNvPr>
            <p:cNvCxnSpPr/>
            <p:nvPr/>
          </p:nvCxnSpPr>
          <p:spPr>
            <a:xfrm rot="5400000">
              <a:off x="5219543" y="1639465"/>
              <a:ext cx="1295942" cy="9130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4F588C05-30C9-A115-378D-291CC3132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Learning Process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E8F4CB4-4429-DC95-EDCF-0FD5F9DF9C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1FFF1-2BA4-5282-C76E-2E2116DB1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600200"/>
            <a:ext cx="8347075" cy="498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0AD58CF5-9FE2-5523-F63F-E542C5113D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br>
              <a:rPr lang="en-US" altLang="en-US" sz="3200" b="1" i="1">
                <a:solidFill>
                  <a:schemeClr val="tx1"/>
                </a:solidFill>
              </a:rPr>
            </a:br>
            <a:r>
              <a:rPr lang="en-US" altLang="en-US" sz="3200" b="1" i="1">
                <a:solidFill>
                  <a:schemeClr val="tx1"/>
                </a:solidFill>
              </a:rPr>
              <a:t>Learning </a:t>
            </a:r>
            <a:r>
              <a:rPr lang="en-US" altLang="en-US" sz="3200" b="1">
                <a:solidFill>
                  <a:schemeClr val="tx1"/>
                </a:solidFill>
              </a:rPr>
              <a:t>(Machine Learning)</a:t>
            </a:r>
            <a:br>
              <a:rPr lang="en-US" altLang="en-US" sz="3200" b="1">
                <a:solidFill>
                  <a:schemeClr val="tx1"/>
                </a:solidFill>
              </a:rPr>
            </a:br>
            <a:endParaRPr lang="en-US" altLang="en-US" sz="3200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602EEB06-764E-04FB-6933-DF44CC2282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9144000" cy="5211763"/>
          </a:xfrm>
        </p:spPr>
        <p:txBody>
          <a:bodyPr/>
          <a:lstStyle/>
          <a:p>
            <a:r>
              <a:rPr lang="en-US" altLang="en-US" b="1"/>
              <a:t>What is it ? Some Quotations</a:t>
            </a:r>
          </a:p>
          <a:p>
            <a:r>
              <a:rPr lang="en-US" altLang="en-US" b="1"/>
              <a:t>Herbert Simon, 1983</a:t>
            </a:r>
          </a:p>
          <a:p>
            <a:pPr lvl="1"/>
            <a:r>
              <a:rPr lang="en-US" altLang="en-US"/>
              <a:t>Learning denotes changes in a system that enable a system to do the same task more efficiently the next time.</a:t>
            </a:r>
          </a:p>
          <a:p>
            <a:r>
              <a:rPr lang="en-US" altLang="en-US" b="1"/>
              <a:t>Marvin Minsky, 1986</a:t>
            </a:r>
          </a:p>
          <a:p>
            <a:pPr lvl="1"/>
            <a:r>
              <a:rPr lang="en-US" altLang="en-US"/>
              <a:t>Learning is making useful changes in the workings of our minds.</a:t>
            </a:r>
          </a:p>
          <a:p>
            <a:r>
              <a:rPr lang="en-US" altLang="en-US" b="1"/>
              <a:t>Ryszard Michalski, 1986</a:t>
            </a:r>
          </a:p>
          <a:p>
            <a:pPr lvl="1"/>
            <a:r>
              <a:rPr lang="en-US" altLang="en-US"/>
              <a:t>Learning is constructing or modifying representations of what is being experienced.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581F1F94-996D-E771-73D8-E810B4F72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altLang="en-US"/>
              <a:t>What is learning ?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99DBA89-B37E-0AAA-DD37-41A471EA41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990600"/>
            <a:ext cx="8534400" cy="5135563"/>
          </a:xfrm>
        </p:spPr>
        <p:txBody>
          <a:bodyPr/>
          <a:lstStyle/>
          <a:p>
            <a:r>
              <a:rPr lang="en-US" altLang="en-US" sz="2800"/>
              <a:t>Learning is an important feature of “Intelligence”.</a:t>
            </a:r>
          </a:p>
          <a:p>
            <a:pPr>
              <a:buFontTx/>
              <a:buNone/>
            </a:pPr>
            <a:endParaRPr lang="en-US" altLang="en-US" sz="2800" b="1"/>
          </a:p>
          <a:p>
            <a:pPr>
              <a:buFontTx/>
              <a:buNone/>
            </a:pPr>
            <a:r>
              <a:rPr lang="en-US" altLang="en-US" sz="2800" b="1"/>
              <a:t>1.1 Definition</a:t>
            </a:r>
          </a:p>
          <a:p>
            <a:r>
              <a:rPr lang="en-US" altLang="en-US" sz="2800"/>
              <a:t>A computer program is said to learn from </a:t>
            </a:r>
            <a:r>
              <a:rPr lang="en-US" altLang="en-US" sz="2800">
                <a:solidFill>
                  <a:srgbClr val="FF0000"/>
                </a:solidFill>
              </a:rPr>
              <a:t>experience E</a:t>
            </a:r>
            <a:r>
              <a:rPr lang="en-US" altLang="en-US" sz="2800"/>
              <a:t> with respect to some class of </a:t>
            </a:r>
            <a:r>
              <a:rPr lang="en-US" altLang="en-US" sz="2800">
                <a:solidFill>
                  <a:srgbClr val="FF0000"/>
                </a:solidFill>
              </a:rPr>
              <a:t>tasks T</a:t>
            </a:r>
            <a:r>
              <a:rPr lang="en-US" altLang="en-US" sz="2800"/>
              <a:t> and </a:t>
            </a:r>
            <a:r>
              <a:rPr lang="en-US" altLang="en-US" sz="2800">
                <a:solidFill>
                  <a:srgbClr val="FF0000"/>
                </a:solidFill>
              </a:rPr>
              <a:t>performance measure P</a:t>
            </a:r>
            <a:r>
              <a:rPr lang="en-US" altLang="en-US" sz="2800"/>
              <a:t>, if its performance at tasks in </a:t>
            </a:r>
            <a:r>
              <a:rPr lang="en-US" altLang="en-US" sz="2800">
                <a:solidFill>
                  <a:srgbClr val="FF0000"/>
                </a:solidFill>
              </a:rPr>
              <a:t>T</a:t>
            </a:r>
            <a:r>
              <a:rPr lang="en-US" altLang="en-US" sz="2800"/>
              <a:t>, as measured by </a:t>
            </a:r>
            <a:r>
              <a:rPr lang="en-US" altLang="en-US" sz="2800">
                <a:solidFill>
                  <a:srgbClr val="FF0000"/>
                </a:solidFill>
              </a:rPr>
              <a:t>P</a:t>
            </a:r>
            <a:r>
              <a:rPr lang="en-US" altLang="en-US" sz="2800"/>
              <a:t>, improves with experience </a:t>
            </a:r>
            <a:r>
              <a:rPr lang="en-US" altLang="en-US" sz="2800">
                <a:solidFill>
                  <a:srgbClr val="FF0000"/>
                </a:solidFill>
              </a:rPr>
              <a:t>E</a:t>
            </a:r>
            <a:r>
              <a:rPr lang="en-US" altLang="en-US" sz="2800"/>
              <a:t>. (Mitchell 1997)</a:t>
            </a:r>
          </a:p>
          <a:p>
            <a:endParaRPr lang="en-US" altLang="en-US" sz="2800"/>
          </a:p>
          <a:p>
            <a:r>
              <a:rPr lang="en-US" altLang="en-US" sz="2800"/>
              <a:t>This means 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37589DB1-2576-C537-252D-AF3C7652AA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81000"/>
            <a:ext cx="8229600" cy="6019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/>
              <a:t>Given </a:t>
            </a:r>
            <a:r>
              <a:rPr lang="en-US" altLang="en-US" sz="2400" b="1"/>
              <a:t>: a task T</a:t>
            </a:r>
          </a:p>
          <a:p>
            <a:r>
              <a:rPr lang="en-US" altLang="en-US" sz="2400"/>
              <a:t>A performance measure P</a:t>
            </a:r>
          </a:p>
          <a:p>
            <a:r>
              <a:rPr lang="en-US" altLang="en-US" sz="2400"/>
              <a:t>Some experience E with the task</a:t>
            </a:r>
          </a:p>
          <a:p>
            <a:pPr>
              <a:buFontTx/>
              <a:buNone/>
            </a:pPr>
            <a:endParaRPr lang="en-US" altLang="en-US" sz="2400"/>
          </a:p>
          <a:p>
            <a:pPr>
              <a:buFontTx/>
              <a:buNone/>
            </a:pPr>
            <a:r>
              <a:rPr lang="en-US" altLang="en-US" sz="2400"/>
              <a:t>Goal </a:t>
            </a:r>
            <a:r>
              <a:rPr lang="en-US" altLang="en-US" sz="2400" b="1"/>
              <a:t>: Generalize the experience in a way that allows to improve </a:t>
            </a:r>
            <a:r>
              <a:rPr lang="en-US" altLang="en-US" sz="2400"/>
              <a:t>your performance on the task.</a:t>
            </a:r>
          </a:p>
          <a:p>
            <a:pPr>
              <a:buFontTx/>
              <a:buNone/>
            </a:pPr>
            <a:endParaRPr lang="en-US" altLang="en-US" sz="2400" b="1"/>
          </a:p>
          <a:p>
            <a:pPr>
              <a:buFontTx/>
              <a:buNone/>
            </a:pPr>
            <a:r>
              <a:rPr lang="en-US" altLang="en-US" sz="2400" b="1"/>
              <a:t>Why do Machine Learning?</a:t>
            </a:r>
          </a:p>
          <a:p>
            <a:r>
              <a:rPr lang="en-US" altLang="en-US" sz="2400" b="1"/>
              <a:t> Understand and improve efficiency of human learning.</a:t>
            </a:r>
          </a:p>
          <a:p>
            <a:r>
              <a:rPr lang="en-US" altLang="en-US" sz="2400" b="1"/>
              <a:t> Discover new things or structure that is unknown to humans.</a:t>
            </a:r>
          </a:p>
          <a:p>
            <a:r>
              <a:rPr lang="en-US" altLang="en-US" sz="2400" b="1"/>
              <a:t> Fill in skeletal or incomplete specifications about a domain.</a:t>
            </a:r>
          </a:p>
          <a:p>
            <a:pPr>
              <a:buFontTx/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2DB4079-BCC3-82DF-E6B8-A981C45A0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8CD35C9-31C1-80EF-2273-E83586B82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Learning is essential for unknown environments,</a:t>
            </a:r>
          </a:p>
          <a:p>
            <a:pPr lvl="1" eaLnBrk="1" hangingPunct="1"/>
            <a:r>
              <a:rPr lang="en-US" altLang="en-US" sz="2400"/>
              <a:t>i.e., when designer lacks knowledge</a:t>
            </a:r>
          </a:p>
          <a:p>
            <a:pPr lvl="4" eaLnBrk="1" hangingPunct="1"/>
            <a:endParaRPr lang="en-US" altLang="en-US" sz="1800"/>
          </a:p>
          <a:p>
            <a:pPr eaLnBrk="1" hangingPunct="1"/>
            <a:r>
              <a:rPr lang="en-US" altLang="en-US" sz="2800"/>
              <a:t>Learning is useful as a system construction method,</a:t>
            </a:r>
          </a:p>
          <a:p>
            <a:pPr lvl="1" eaLnBrk="1" hangingPunct="1"/>
            <a:r>
              <a:rPr lang="en-US" altLang="en-US" sz="2400"/>
              <a:t>i.e., expose the agent to reality rather than trying to write it down</a:t>
            </a:r>
          </a:p>
          <a:p>
            <a:pPr lvl="4" eaLnBrk="1" hangingPunct="1"/>
            <a:endParaRPr lang="en-US" altLang="en-US" sz="1800"/>
          </a:p>
          <a:p>
            <a:pPr eaLnBrk="1" hangingPunct="1"/>
            <a:r>
              <a:rPr lang="en-US" altLang="en-US" sz="2800"/>
              <a:t>Learning modifies the agent's decision mechanisms to improve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812D556-1768-7F1F-46CE-D52204EFC5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Learning Agent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B0A93294-2194-E5E1-9D26-B37FD05484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Learning agent consist of four main components :</a:t>
            </a:r>
          </a:p>
          <a:p>
            <a:r>
              <a:rPr lang="en-US" altLang="en-US"/>
              <a:t>Learning element, Performance element, Critic, and Problem generator.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6AF3698-E9D7-C405-D477-236300704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agents</a:t>
            </a:r>
          </a:p>
        </p:txBody>
      </p:sp>
      <p:pic>
        <p:nvPicPr>
          <p:cNvPr id="15363" name="Picture 6" descr="learning-model">
            <a:extLst>
              <a:ext uri="{FF2B5EF4-FFF2-40B4-BE49-F238E27FC236}">
                <a16:creationId xmlns:a16="http://schemas.microsoft.com/office/drawing/2014/main" id="{C651B3C0-3552-93C3-FEB5-14C78AE39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7315200" cy="513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EEC6D53F-94C9-D46F-3A2F-01EDB38D2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altLang="en-US" b="1"/>
              <a:t>Components</a:t>
            </a:r>
            <a:endParaRPr lang="en-US" altLang="en-US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3C472EA1-E808-845B-CF22-AE7544FA51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 b="1"/>
              <a:t>■ </a:t>
            </a:r>
            <a:r>
              <a:rPr lang="en-US" altLang="en-US" sz="2800" b="1"/>
              <a:t>Performance Element: It is the agent itself that acts in the world. </a:t>
            </a:r>
            <a:r>
              <a:rPr lang="en-US" altLang="en-US" sz="2800"/>
              <a:t>It chooses the actions.</a:t>
            </a:r>
          </a:p>
          <a:p>
            <a:pPr>
              <a:buFontTx/>
              <a:buNone/>
            </a:pPr>
            <a:r>
              <a:rPr lang="en-US" altLang="en-US" sz="2800" b="1"/>
              <a:t>■ Learning Element: It is the part of the agent responsible for </a:t>
            </a:r>
            <a:r>
              <a:rPr lang="en-US" altLang="en-US" sz="2800"/>
              <a:t>improving its performance.</a:t>
            </a:r>
          </a:p>
          <a:p>
            <a:pPr>
              <a:buFontTx/>
              <a:buNone/>
            </a:pPr>
            <a:r>
              <a:rPr lang="en-US" altLang="en-US" sz="2800" b="1"/>
              <a:t>■ Critic: Tells the Learning Element how agent is doing (success or </a:t>
            </a:r>
            <a:r>
              <a:rPr lang="en-US" altLang="en-US" sz="2800"/>
              <a:t>failure) by comparing with a fixed standard of performance.</a:t>
            </a:r>
          </a:p>
          <a:p>
            <a:pPr>
              <a:buFontTx/>
              <a:buNone/>
            </a:pPr>
            <a:r>
              <a:rPr lang="en-US" altLang="en-US" sz="2800" b="1"/>
              <a:t>■ Problem Generator: Suggests "problems" or actions that will </a:t>
            </a:r>
            <a:r>
              <a:rPr lang="en-US" altLang="en-US" sz="2800"/>
              <a:t>generate new examples or experiences that will aid in training the system further.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BE0D12D4-948B-EE37-1210-0EFBF287DF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304800"/>
            <a:ext cx="8458200" cy="58213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800" b="1"/>
              <a:t>Example : Automated Taxi on city roads</a:t>
            </a:r>
          </a:p>
          <a:p>
            <a:pPr>
              <a:buFontTx/>
              <a:buNone/>
            </a:pPr>
            <a:r>
              <a:rPr lang="en-US" altLang="en-US" sz="2800" b="1"/>
              <a:t>■ Performance Element: Consists of knowledge and procedures for driving </a:t>
            </a:r>
            <a:r>
              <a:rPr lang="en-US" altLang="en-US" sz="2800"/>
              <a:t>actions. </a:t>
            </a:r>
          </a:p>
          <a:p>
            <a:pPr>
              <a:buFontTx/>
              <a:buNone/>
            </a:pPr>
            <a:r>
              <a:rPr lang="en-US" altLang="en-US" sz="2800"/>
              <a:t>e.g., turning, accelerating, braking are performance element on roads.</a:t>
            </a:r>
          </a:p>
          <a:p>
            <a:pPr>
              <a:buFontTx/>
              <a:buNone/>
            </a:pPr>
            <a:r>
              <a:rPr lang="en-US" altLang="en-US" sz="2800" b="1"/>
              <a:t>■ Learning Element: Formulates goals. </a:t>
            </a:r>
          </a:p>
          <a:p>
            <a:pPr>
              <a:buFontTx/>
              <a:buNone/>
            </a:pPr>
            <a:r>
              <a:rPr lang="en-US" altLang="en-US" sz="2800" b="1"/>
              <a:t>e.g., learn rules for braking and </a:t>
            </a:r>
            <a:r>
              <a:rPr lang="en-US" altLang="en-US" sz="2800"/>
              <a:t>accelerating, learn geography of the city, etc.</a:t>
            </a:r>
          </a:p>
          <a:p>
            <a:pPr>
              <a:buFontTx/>
              <a:buNone/>
            </a:pPr>
            <a:r>
              <a:rPr lang="en-US" altLang="en-US" sz="2800" b="1"/>
              <a:t>■ Critic: Observes world and passes information to learning element. </a:t>
            </a:r>
          </a:p>
          <a:p>
            <a:pPr>
              <a:buFontTx/>
              <a:buNone/>
            </a:pPr>
            <a:r>
              <a:rPr lang="en-US" altLang="en-US" sz="2800" b="1"/>
              <a:t>e.g.  </a:t>
            </a:r>
            <a:r>
              <a:rPr lang="en-US" altLang="en-US" sz="2800"/>
              <a:t>quick right turn across three lanes of traffic, observe reaction of other drivers.</a:t>
            </a:r>
          </a:p>
          <a:p>
            <a:pPr>
              <a:buFontTx/>
              <a:buNone/>
            </a:pPr>
            <a:r>
              <a:rPr lang="en-US" altLang="en-US" sz="2800" b="1"/>
              <a:t>■ Problem Generator: Try South city Road.</a:t>
            </a:r>
          </a:p>
          <a:p>
            <a:pPr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3F51072-6BF6-C744-AB33-FC3FFDF19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element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9DEE811-EFA7-D2EC-7CD1-90C58AB23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4582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Design of a learning element is affected by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Which components of the performance element are to be learned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What feedback is available to learn these components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What representation is used for the components</a:t>
            </a:r>
          </a:p>
          <a:p>
            <a:pPr lvl="4"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Type of feedback:	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>
                <a:solidFill>
                  <a:schemeClr val="accent2"/>
                </a:solidFill>
              </a:rPr>
              <a:t>Supervised learning</a:t>
            </a:r>
            <a:r>
              <a:rPr lang="en-US" altLang="en-US" sz="2400"/>
              <a:t>: correct answers for each example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>
                <a:solidFill>
                  <a:schemeClr val="accent2"/>
                </a:solidFill>
              </a:rPr>
              <a:t>Unsupervised learning</a:t>
            </a:r>
            <a:r>
              <a:rPr lang="en-US" altLang="en-US" sz="2400"/>
              <a:t>: correct answers not given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>
                <a:solidFill>
                  <a:schemeClr val="accent2"/>
                </a:solidFill>
              </a:rPr>
              <a:t>Reinforcement learning</a:t>
            </a:r>
            <a:r>
              <a:rPr lang="en-US" altLang="en-US" sz="2400"/>
              <a:t>: occasional rewards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45C1ABCF-7457-3F51-9304-BF4C0A091E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en-US"/>
              <a:t>Inductive learning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F8464DF3-A0BC-AA9C-71FE-DB6EBD1B0C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371600"/>
            <a:ext cx="8839200" cy="5257800"/>
          </a:xfrm>
        </p:spPr>
        <p:txBody>
          <a:bodyPr/>
          <a:lstStyle/>
          <a:p>
            <a:r>
              <a:rPr lang="en-US" altLang="en-US"/>
              <a:t>The inductive learning is a process of </a:t>
            </a:r>
            <a:r>
              <a:rPr lang="en-US" altLang="en-US">
                <a:solidFill>
                  <a:srgbClr val="FF0000"/>
                </a:solidFill>
              </a:rPr>
              <a:t>learning by example</a:t>
            </a:r>
            <a:r>
              <a:rPr lang="en-US" altLang="en-US"/>
              <a:t>. The system tries to induce a </a:t>
            </a:r>
            <a:r>
              <a:rPr lang="en-US" altLang="en-US">
                <a:solidFill>
                  <a:srgbClr val="FF0000"/>
                </a:solidFill>
              </a:rPr>
              <a:t>general rules </a:t>
            </a:r>
            <a:r>
              <a:rPr lang="en-US" altLang="en-US"/>
              <a:t>from a set of observed instances. The learning methods </a:t>
            </a:r>
            <a:r>
              <a:rPr lang="en-US" altLang="en-US">
                <a:solidFill>
                  <a:srgbClr val="FF0000"/>
                </a:solidFill>
              </a:rPr>
              <a:t>extract rules and patterns</a:t>
            </a:r>
            <a:r>
              <a:rPr lang="en-US" altLang="en-US"/>
              <a:t> out of massive data sets.</a:t>
            </a:r>
          </a:p>
          <a:p>
            <a:endParaRPr lang="en-US" altLang="en-US"/>
          </a:p>
          <a:p>
            <a:r>
              <a:rPr lang="en-US" altLang="en-US"/>
              <a:t>The learning processes belong to </a:t>
            </a:r>
            <a:r>
              <a:rPr lang="en-US" altLang="en-US">
                <a:solidFill>
                  <a:srgbClr val="FF0000"/>
                </a:solidFill>
              </a:rPr>
              <a:t>supervised learning</a:t>
            </a:r>
            <a:r>
              <a:rPr lang="en-US" altLang="en-US"/>
              <a:t>, does classification and constructs class definitions, called induction or concept learning.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AAD24F6-9F8B-7278-A1B1-155A9AA59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en-US"/>
              <a:t>Inductive learning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F91743C-9A79-E769-58D6-70A07EBA1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Simplest form: learn a function from examples
</a:t>
            </a:r>
          </a:p>
          <a:p>
            <a:pPr lvl="4" eaLnBrk="1" hangingPunct="1">
              <a:lnSpc>
                <a:spcPct val="90000"/>
              </a:lnSpc>
            </a:pPr>
            <a:endParaRPr lang="en-US" altLang="en-US" sz="1600" i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i="1"/>
              <a:t>f</a:t>
            </a:r>
            <a:r>
              <a:rPr lang="en-US" altLang="en-US" sz="2400"/>
              <a:t> is the </a:t>
            </a:r>
            <a:r>
              <a:rPr lang="en-US" altLang="en-US" sz="2400">
                <a:solidFill>
                  <a:schemeClr val="accent2"/>
                </a:solidFill>
              </a:rPr>
              <a:t>target function</a:t>
            </a:r>
            <a:endParaRPr lang="en-US" altLang="en-US" sz="2400"/>
          </a:p>
          <a:p>
            <a:pPr lvl="4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An </a:t>
            </a:r>
            <a:r>
              <a:rPr lang="en-US" altLang="en-US" sz="2400">
                <a:solidFill>
                  <a:schemeClr val="accent2"/>
                </a:solidFill>
              </a:rPr>
              <a:t>example </a:t>
            </a:r>
            <a:r>
              <a:rPr lang="en-US" altLang="en-US" sz="2400"/>
              <a:t>is a pair (</a:t>
            </a:r>
            <a:r>
              <a:rPr lang="en-US" altLang="en-US" sz="2400" i="1"/>
              <a:t>x</a:t>
            </a:r>
            <a:r>
              <a:rPr lang="en-US" altLang="en-US" sz="2400"/>
              <a:t>, </a:t>
            </a:r>
            <a:r>
              <a:rPr lang="en-US" altLang="en-US" sz="2400" i="1"/>
              <a:t>f(x)</a:t>
            </a:r>
            <a:r>
              <a:rPr lang="en-US" altLang="en-US" sz="2400"/>
              <a:t>)
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endParaRPr lang="en-US" altLang="en-US" sz="16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Problem: find a </a:t>
            </a:r>
            <a:r>
              <a:rPr lang="en-US" altLang="en-US" sz="2400">
                <a:solidFill>
                  <a:schemeClr val="accent2"/>
                </a:solidFill>
              </a:rPr>
              <a:t>hypothesis </a:t>
            </a:r>
            <a:r>
              <a:rPr lang="en-US" altLang="en-US" sz="2400" i="1"/>
              <a:t>h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/>
              <a:t>such that </a:t>
            </a:r>
            <a:r>
              <a:rPr lang="en-US" altLang="en-US" sz="2000" i="1"/>
              <a:t>h </a:t>
            </a:r>
            <a:r>
              <a:rPr lang="en-US" altLang="en-US" sz="2000" i="1">
                <a:cs typeface="Arial" panose="020B0604020202020204" pitchFamily="34" charset="0"/>
              </a:rPr>
              <a:t>≈ </a:t>
            </a:r>
            <a:r>
              <a:rPr lang="en-US" altLang="en-US" sz="2000" i="1"/>
              <a:t>f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/>
              <a:t>given a </a:t>
            </a:r>
            <a:r>
              <a:rPr lang="en-US" altLang="en-US" sz="2000">
                <a:solidFill>
                  <a:schemeClr val="accent2"/>
                </a:solidFill>
              </a:rPr>
              <a:t>training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chemeClr val="accent2"/>
                </a:solidFill>
              </a:rPr>
              <a:t>set</a:t>
            </a:r>
            <a:r>
              <a:rPr lang="en-US" altLang="en-US" sz="2000"/>
              <a:t> of examples
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endParaRPr lang="en-US" altLang="en-US" sz="16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(This is a highly simplified model of real learning: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Ignores prior knowledge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Assumes examples are given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68F226E-6C9A-53BE-7DAF-F966E7D70A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Inductive learning method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9F74432-825E-7E25-E94C-BF62399864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Construct/adjust </a:t>
            </a:r>
            <a:r>
              <a:rPr lang="en-US" altLang="en-US" sz="2400" i="1"/>
              <a:t>h </a:t>
            </a:r>
            <a:r>
              <a:rPr lang="en-US" altLang="en-US" sz="2400"/>
              <a:t>to agree with </a:t>
            </a:r>
            <a:r>
              <a:rPr lang="en-US" altLang="en-US" sz="2400" i="1"/>
              <a:t>f</a:t>
            </a:r>
            <a:r>
              <a:rPr lang="en-US" altLang="en-US" sz="2400"/>
              <a:t> on training set</a:t>
            </a:r>
          </a:p>
          <a:p>
            <a:pPr eaLnBrk="1" hangingPunct="1"/>
            <a:r>
              <a:rPr lang="en-US" altLang="en-US" sz="2400"/>
              <a:t>(</a:t>
            </a:r>
            <a:r>
              <a:rPr lang="en-US" altLang="en-US" sz="2400" i="1"/>
              <a:t>h</a:t>
            </a:r>
            <a:r>
              <a:rPr lang="en-US" altLang="en-US" sz="2400"/>
              <a:t> is </a:t>
            </a:r>
            <a:r>
              <a:rPr lang="en-US" altLang="en-US" sz="2400">
                <a:solidFill>
                  <a:schemeClr val="accent2"/>
                </a:solidFill>
              </a:rPr>
              <a:t>consistent </a:t>
            </a:r>
            <a:r>
              <a:rPr lang="en-US" altLang="en-US" sz="2400"/>
              <a:t>if it agrees with </a:t>
            </a:r>
            <a:r>
              <a:rPr lang="en-US" altLang="en-US" sz="2400" i="1"/>
              <a:t>f</a:t>
            </a:r>
            <a:r>
              <a:rPr lang="en-US" altLang="en-US" sz="2400"/>
              <a:t> on all examples)
</a:t>
            </a:r>
          </a:p>
          <a:p>
            <a:pPr eaLnBrk="1" hangingPunct="1"/>
            <a:r>
              <a:rPr lang="en-US" altLang="en-US" sz="2400"/>
              <a:t>E.g., curve fitting:
</a:t>
            </a:r>
          </a:p>
          <a:p>
            <a:pPr eaLnBrk="1" hangingPunct="1">
              <a:buFontTx/>
              <a:buNone/>
            </a:pPr>
            <a:endParaRPr lang="en-US" altLang="en-US" sz="2400"/>
          </a:p>
        </p:txBody>
      </p:sp>
      <p:pic>
        <p:nvPicPr>
          <p:cNvPr id="21508" name="Picture 4" descr="curve-fitting1c">
            <a:extLst>
              <a:ext uri="{FF2B5EF4-FFF2-40B4-BE49-F238E27FC236}">
                <a16:creationId xmlns:a16="http://schemas.microsoft.com/office/drawing/2014/main" id="{24503892-8033-3C40-B11E-DD0EA4357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546475"/>
            <a:ext cx="3810000" cy="293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3844403-FD4F-DFFC-2BD8-124C45FF5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Inductive learning method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9318255E-5807-55C6-A425-560E7F23D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Construct/adjust </a:t>
            </a:r>
            <a:r>
              <a:rPr lang="en-US" altLang="en-US" sz="2400" i="1"/>
              <a:t>h </a:t>
            </a:r>
            <a:r>
              <a:rPr lang="en-US" altLang="en-US" sz="2400"/>
              <a:t>to agree with </a:t>
            </a:r>
            <a:r>
              <a:rPr lang="en-US" altLang="en-US" sz="2400" i="1"/>
              <a:t>f</a:t>
            </a:r>
            <a:r>
              <a:rPr lang="en-US" altLang="en-US" sz="2400"/>
              <a:t> on training set</a:t>
            </a:r>
          </a:p>
          <a:p>
            <a:pPr eaLnBrk="1" hangingPunct="1"/>
            <a:r>
              <a:rPr lang="en-US" altLang="en-US" sz="2400"/>
              <a:t>(</a:t>
            </a:r>
            <a:r>
              <a:rPr lang="en-US" altLang="en-US" sz="2400" i="1"/>
              <a:t>h</a:t>
            </a:r>
            <a:r>
              <a:rPr lang="en-US" altLang="en-US" sz="2400"/>
              <a:t> is </a:t>
            </a:r>
            <a:r>
              <a:rPr lang="en-US" altLang="en-US" sz="2400">
                <a:solidFill>
                  <a:schemeClr val="accent2"/>
                </a:solidFill>
              </a:rPr>
              <a:t>consistent </a:t>
            </a:r>
            <a:r>
              <a:rPr lang="en-US" altLang="en-US" sz="2400"/>
              <a:t>if it agrees with </a:t>
            </a:r>
            <a:r>
              <a:rPr lang="en-US" altLang="en-US" sz="2400" i="1"/>
              <a:t>f</a:t>
            </a:r>
            <a:r>
              <a:rPr lang="en-US" altLang="en-US" sz="2400"/>
              <a:t> on all examples)
</a:t>
            </a:r>
          </a:p>
          <a:p>
            <a:pPr eaLnBrk="1" hangingPunct="1"/>
            <a:r>
              <a:rPr lang="en-US" altLang="en-US" sz="2400"/>
              <a:t>E.g., curve fitting:
</a:t>
            </a:r>
          </a:p>
          <a:p>
            <a:pPr eaLnBrk="1" hangingPunct="1">
              <a:buFontTx/>
              <a:buNone/>
            </a:pPr>
            <a:endParaRPr lang="en-US" altLang="en-US" sz="2400"/>
          </a:p>
        </p:txBody>
      </p:sp>
      <p:pic>
        <p:nvPicPr>
          <p:cNvPr id="22532" name="Picture 6" descr="curve-fitting2c">
            <a:extLst>
              <a:ext uri="{FF2B5EF4-FFF2-40B4-BE49-F238E27FC236}">
                <a16:creationId xmlns:a16="http://schemas.microsoft.com/office/drawing/2014/main" id="{3BB23C75-CBE4-B60B-5639-C5CB2C30A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471863"/>
            <a:ext cx="3810000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264F937-66E5-421C-1962-AA454E9D5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Inductive learning method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4940329-CE8C-FFC9-87BA-F5C73743D9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Construct/adjust </a:t>
            </a:r>
            <a:r>
              <a:rPr lang="en-US" altLang="en-US" sz="2400" i="1"/>
              <a:t>h </a:t>
            </a:r>
            <a:r>
              <a:rPr lang="en-US" altLang="en-US" sz="2400"/>
              <a:t>to agree with </a:t>
            </a:r>
            <a:r>
              <a:rPr lang="en-US" altLang="en-US" sz="2400" i="1"/>
              <a:t>f</a:t>
            </a:r>
            <a:r>
              <a:rPr lang="en-US" altLang="en-US" sz="2400"/>
              <a:t> on training set</a:t>
            </a:r>
          </a:p>
          <a:p>
            <a:pPr eaLnBrk="1" hangingPunct="1"/>
            <a:r>
              <a:rPr lang="en-US" altLang="en-US" sz="2400"/>
              <a:t>(</a:t>
            </a:r>
            <a:r>
              <a:rPr lang="en-US" altLang="en-US" sz="2400" i="1"/>
              <a:t>h</a:t>
            </a:r>
            <a:r>
              <a:rPr lang="en-US" altLang="en-US" sz="2400"/>
              <a:t> is </a:t>
            </a:r>
            <a:r>
              <a:rPr lang="en-US" altLang="en-US" sz="2400">
                <a:solidFill>
                  <a:schemeClr val="accent2"/>
                </a:solidFill>
              </a:rPr>
              <a:t>consistent </a:t>
            </a:r>
            <a:r>
              <a:rPr lang="en-US" altLang="en-US" sz="2400"/>
              <a:t>if it agrees with </a:t>
            </a:r>
            <a:r>
              <a:rPr lang="en-US" altLang="en-US" sz="2400" i="1"/>
              <a:t>f</a:t>
            </a:r>
            <a:r>
              <a:rPr lang="en-US" altLang="en-US" sz="2400"/>
              <a:t> on all examples)
</a:t>
            </a:r>
          </a:p>
          <a:p>
            <a:pPr eaLnBrk="1" hangingPunct="1"/>
            <a:r>
              <a:rPr lang="en-US" altLang="en-US" sz="2400"/>
              <a:t>E.g., curve fitting:
</a:t>
            </a:r>
          </a:p>
          <a:p>
            <a:pPr eaLnBrk="1" hangingPunct="1">
              <a:buFontTx/>
              <a:buNone/>
            </a:pPr>
            <a:endParaRPr lang="en-US" altLang="en-US" sz="2400"/>
          </a:p>
        </p:txBody>
      </p:sp>
      <p:pic>
        <p:nvPicPr>
          <p:cNvPr id="23556" name="Picture 6" descr="curve-fitting3c">
            <a:extLst>
              <a:ext uri="{FF2B5EF4-FFF2-40B4-BE49-F238E27FC236}">
                <a16:creationId xmlns:a16="http://schemas.microsoft.com/office/drawing/2014/main" id="{F840C210-BAF3-8D19-9A3F-7CF0B6C40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548063"/>
            <a:ext cx="3810000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524C459-8F8B-D5A0-381C-81668585BC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Inductive learning method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28C714A-D8DA-9B00-E44C-8E2F7D66C5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Construct/adjust </a:t>
            </a:r>
            <a:r>
              <a:rPr lang="en-US" altLang="en-US" sz="2400" i="1"/>
              <a:t>h </a:t>
            </a:r>
            <a:r>
              <a:rPr lang="en-US" altLang="en-US" sz="2400"/>
              <a:t>to agree with </a:t>
            </a:r>
            <a:r>
              <a:rPr lang="en-US" altLang="en-US" sz="2400" i="1"/>
              <a:t>f</a:t>
            </a:r>
            <a:r>
              <a:rPr lang="en-US" altLang="en-US" sz="2400"/>
              <a:t> on training set</a:t>
            </a:r>
          </a:p>
          <a:p>
            <a:pPr eaLnBrk="1" hangingPunct="1"/>
            <a:r>
              <a:rPr lang="en-US" altLang="en-US" sz="2400"/>
              <a:t>(</a:t>
            </a:r>
            <a:r>
              <a:rPr lang="en-US" altLang="en-US" sz="2400" i="1"/>
              <a:t>h</a:t>
            </a:r>
            <a:r>
              <a:rPr lang="en-US" altLang="en-US" sz="2400"/>
              <a:t> is </a:t>
            </a:r>
            <a:r>
              <a:rPr lang="en-US" altLang="en-US" sz="2400">
                <a:solidFill>
                  <a:schemeClr val="accent2"/>
                </a:solidFill>
              </a:rPr>
              <a:t>consistent </a:t>
            </a:r>
            <a:r>
              <a:rPr lang="en-US" altLang="en-US" sz="2400"/>
              <a:t>if it agrees with </a:t>
            </a:r>
            <a:r>
              <a:rPr lang="en-US" altLang="en-US" sz="2400" i="1"/>
              <a:t>f</a:t>
            </a:r>
            <a:r>
              <a:rPr lang="en-US" altLang="en-US" sz="2400"/>
              <a:t> on all examples)
</a:t>
            </a:r>
          </a:p>
          <a:p>
            <a:pPr eaLnBrk="1" hangingPunct="1"/>
            <a:r>
              <a:rPr lang="en-US" altLang="en-US" sz="2400"/>
              <a:t>E.g., curve fitting:
</a:t>
            </a:r>
          </a:p>
          <a:p>
            <a:pPr eaLnBrk="1" hangingPunct="1">
              <a:buFontTx/>
              <a:buNone/>
            </a:pPr>
            <a:endParaRPr lang="en-US" altLang="en-US" sz="2400"/>
          </a:p>
        </p:txBody>
      </p:sp>
      <p:pic>
        <p:nvPicPr>
          <p:cNvPr id="24580" name="Picture 6" descr="curve-fitting4c">
            <a:extLst>
              <a:ext uri="{FF2B5EF4-FFF2-40B4-BE49-F238E27FC236}">
                <a16:creationId xmlns:a16="http://schemas.microsoft.com/office/drawing/2014/main" id="{72A0962F-D5E8-9DC4-62E6-2FA2311A5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446463"/>
            <a:ext cx="3429000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urve-fitting5c">
            <a:extLst>
              <a:ext uri="{FF2B5EF4-FFF2-40B4-BE49-F238E27FC236}">
                <a16:creationId xmlns:a16="http://schemas.microsoft.com/office/drawing/2014/main" id="{4D52C49F-217A-33B0-B855-F1B4EF343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446463"/>
            <a:ext cx="3429000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Rectangle 3">
            <a:extLst>
              <a:ext uri="{FF2B5EF4-FFF2-40B4-BE49-F238E27FC236}">
                <a16:creationId xmlns:a16="http://schemas.microsoft.com/office/drawing/2014/main" id="{FAF2A7EA-BEBC-BAA7-5BF1-B3DF99939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Inductive learning method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04688067-246D-99A9-F798-101FE8415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819400"/>
          </a:xfrm>
        </p:spPr>
        <p:txBody>
          <a:bodyPr/>
          <a:lstStyle/>
          <a:p>
            <a:pPr eaLnBrk="1" hangingPunct="1"/>
            <a:r>
              <a:rPr lang="en-US" altLang="en-US" sz="2400"/>
              <a:t>Construct/adjust </a:t>
            </a:r>
            <a:r>
              <a:rPr lang="en-US" altLang="en-US" sz="2400" i="1"/>
              <a:t>h </a:t>
            </a:r>
            <a:r>
              <a:rPr lang="en-US" altLang="en-US" sz="2400"/>
              <a:t>to agree with </a:t>
            </a:r>
            <a:r>
              <a:rPr lang="en-US" altLang="en-US" sz="2400" i="1"/>
              <a:t>f</a:t>
            </a:r>
            <a:r>
              <a:rPr lang="en-US" altLang="en-US" sz="2400"/>
              <a:t> on training set</a:t>
            </a:r>
          </a:p>
          <a:p>
            <a:pPr eaLnBrk="1" hangingPunct="1"/>
            <a:r>
              <a:rPr lang="en-US" altLang="en-US" sz="2400"/>
              <a:t>(</a:t>
            </a:r>
            <a:r>
              <a:rPr lang="en-US" altLang="en-US" sz="2400" i="1"/>
              <a:t>h</a:t>
            </a:r>
            <a:r>
              <a:rPr lang="en-US" altLang="en-US" sz="2400"/>
              <a:t> is </a:t>
            </a:r>
            <a:r>
              <a:rPr lang="en-US" altLang="en-US" sz="2400">
                <a:solidFill>
                  <a:schemeClr val="accent2"/>
                </a:solidFill>
              </a:rPr>
              <a:t>consistent </a:t>
            </a:r>
            <a:r>
              <a:rPr lang="en-US" altLang="en-US" sz="2400"/>
              <a:t>if it agrees with </a:t>
            </a:r>
            <a:r>
              <a:rPr lang="en-US" altLang="en-US" sz="2400" i="1"/>
              <a:t>f</a:t>
            </a:r>
            <a:r>
              <a:rPr lang="en-US" altLang="en-US" sz="2400"/>
              <a:t> on all examples)
</a:t>
            </a:r>
          </a:p>
          <a:p>
            <a:pPr eaLnBrk="1" hangingPunct="1"/>
            <a:r>
              <a:rPr lang="en-US" altLang="en-US" sz="2400"/>
              <a:t>E.g., curve fitting: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7" descr="curve-fitting5c">
            <a:extLst>
              <a:ext uri="{FF2B5EF4-FFF2-40B4-BE49-F238E27FC236}">
                <a16:creationId xmlns:a16="http://schemas.microsoft.com/office/drawing/2014/main" id="{2B8CCB9A-6FF4-E445-8970-59514FE8C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751263"/>
            <a:ext cx="3429000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2">
            <a:extLst>
              <a:ext uri="{FF2B5EF4-FFF2-40B4-BE49-F238E27FC236}">
                <a16:creationId xmlns:a16="http://schemas.microsoft.com/office/drawing/2014/main" id="{3EC904C4-7255-4A1C-6043-9CC20A936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Inductive learning method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2D7CEBB1-3D02-0937-BF88-E1EBA5209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13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Construct/adjust </a:t>
            </a:r>
            <a:r>
              <a:rPr lang="en-US" altLang="en-US" sz="2400" i="1"/>
              <a:t>h </a:t>
            </a:r>
            <a:r>
              <a:rPr lang="en-US" altLang="en-US" sz="2400"/>
              <a:t>to agree with </a:t>
            </a:r>
            <a:r>
              <a:rPr lang="en-US" altLang="en-US" sz="2400" i="1"/>
              <a:t>f</a:t>
            </a:r>
            <a:r>
              <a:rPr lang="en-US" altLang="en-US" sz="2400"/>
              <a:t> on training set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(</a:t>
            </a:r>
            <a:r>
              <a:rPr lang="en-US" altLang="en-US" sz="2400" i="1"/>
              <a:t>h</a:t>
            </a:r>
            <a:r>
              <a:rPr lang="en-US" altLang="en-US" sz="2400"/>
              <a:t> is </a:t>
            </a:r>
            <a:r>
              <a:rPr lang="en-US" altLang="en-US" sz="2400">
                <a:solidFill>
                  <a:schemeClr val="accent2"/>
                </a:solidFill>
              </a:rPr>
              <a:t>consistent </a:t>
            </a:r>
            <a:r>
              <a:rPr lang="en-US" altLang="en-US" sz="2400"/>
              <a:t>if it agrees with </a:t>
            </a:r>
            <a:r>
              <a:rPr lang="en-US" altLang="en-US" sz="2400" i="1"/>
              <a:t>f</a:t>
            </a:r>
            <a:r>
              <a:rPr lang="en-US" altLang="en-US" sz="2400"/>
              <a:t> on all examples)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E.g., curve fitting: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Ockham’s razor: prefer the simplest hypothesis consistent with data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A09AC3B9-8A5C-9FFC-415D-E35BC42AE1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altLang="en-US" b="1"/>
              <a:t>Decision trees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F8B9D-23B9-6330-DB90-CD1A9D8B5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4983163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Decision tree is a classifier in the form of a tree structure where each node is either a leaf or decision node.</a:t>
            </a:r>
          </a:p>
          <a:p>
            <a:pPr lvl="1">
              <a:defRPr/>
            </a:pPr>
            <a:r>
              <a:rPr lang="en-US" sz="2400" b="1" dirty="0">
                <a:ea typeface="+mn-ea"/>
                <a:cs typeface="+mn-cs"/>
              </a:rPr>
              <a:t>leaf node - indicates value of the target attribute (class) of examples.</a:t>
            </a:r>
          </a:p>
          <a:p>
            <a:pPr lvl="1">
              <a:defRPr/>
            </a:pPr>
            <a:r>
              <a:rPr lang="en-US" sz="2400" b="1" dirty="0">
                <a:ea typeface="+mn-ea"/>
                <a:cs typeface="+mn-cs"/>
              </a:rPr>
              <a:t>decision node – specify test to be carried on an attribute-value.</a:t>
            </a:r>
          </a:p>
          <a:p>
            <a:pPr>
              <a:buFontTx/>
              <a:buNone/>
              <a:defRPr/>
            </a:pPr>
            <a:r>
              <a:rPr lang="en-US" sz="2800" b="1" dirty="0"/>
              <a:t>■ Decision trees learn knowledge on classification. The conditions are:</a:t>
            </a:r>
          </a:p>
          <a:p>
            <a:pPr lvl="1">
              <a:defRPr/>
            </a:pPr>
            <a:r>
              <a:rPr lang="en-US" sz="2400" b="1" i="1" dirty="0">
                <a:solidFill>
                  <a:srgbClr val="FF0000"/>
                </a:solidFill>
                <a:ea typeface="+mn-ea"/>
                <a:cs typeface="+mn-cs"/>
              </a:rPr>
              <a:t>Attribute-value description</a:t>
            </a:r>
            <a:r>
              <a:rPr lang="en-US" sz="2400" b="1" i="1" dirty="0">
                <a:ea typeface="+mn-ea"/>
                <a:cs typeface="+mn-cs"/>
              </a:rPr>
              <a:t>: Same attributes must describe each example </a:t>
            </a:r>
            <a:r>
              <a:rPr lang="en-US" dirty="0">
                <a:ea typeface="+mn-ea"/>
                <a:cs typeface="+mn-cs"/>
              </a:rPr>
              <a:t>and have a fixed number of values.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6BF6B2F-3950-FFD5-3D45-A659E0684A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altLang="en-US"/>
              <a:t>Contd…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A602-1961-F830-7B5F-8C53805E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38200"/>
            <a:ext cx="8915400" cy="5287963"/>
          </a:xfrm>
        </p:spPr>
        <p:txBody>
          <a:bodyPr/>
          <a:lstStyle/>
          <a:p>
            <a:pPr lvl="1">
              <a:defRPr/>
            </a:pPr>
            <a:r>
              <a:rPr lang="en-US" sz="2400" b="1" dirty="0">
                <a:solidFill>
                  <a:srgbClr val="FF0000"/>
                </a:solidFill>
              </a:rPr>
              <a:t>Predefined classes </a:t>
            </a:r>
            <a:r>
              <a:rPr lang="en-US" sz="2400" b="1" dirty="0"/>
              <a:t>: The categories to which examples are to be assigned </a:t>
            </a:r>
            <a:r>
              <a:rPr lang="en-US" dirty="0"/>
              <a:t>must already be defined.</a:t>
            </a:r>
          </a:p>
          <a:p>
            <a:pPr lvl="1">
              <a:defRPr/>
            </a:pPr>
            <a:r>
              <a:rPr lang="en-US" sz="2400" b="1" dirty="0">
                <a:solidFill>
                  <a:srgbClr val="FF0000"/>
                </a:solidFill>
                <a:ea typeface="+mn-ea"/>
                <a:cs typeface="+mn-cs"/>
              </a:rPr>
              <a:t>Discrete classes</a:t>
            </a:r>
            <a:r>
              <a:rPr lang="en-US" sz="2400" b="1" dirty="0">
                <a:ea typeface="+mn-ea"/>
                <a:cs typeface="+mn-cs"/>
              </a:rPr>
              <a:t>: Classes must be sharply delineated. Continuous classes </a:t>
            </a:r>
            <a:r>
              <a:rPr lang="en-US" dirty="0">
                <a:ea typeface="+mn-ea"/>
                <a:cs typeface="+mn-cs"/>
              </a:rPr>
              <a:t>broken up into unambiguous categories such "hard", "flexible", "soft".</a:t>
            </a:r>
          </a:p>
          <a:p>
            <a:pPr lvl="1">
              <a:defRPr/>
            </a:pPr>
            <a:r>
              <a:rPr lang="en-US" sz="2400" b="1" dirty="0">
                <a:solidFill>
                  <a:srgbClr val="FF0000"/>
                </a:solidFill>
                <a:ea typeface="+mn-ea"/>
                <a:cs typeface="+mn-cs"/>
              </a:rPr>
              <a:t>Sufficient data</a:t>
            </a:r>
            <a:r>
              <a:rPr lang="en-US" sz="2400" b="1" dirty="0">
                <a:ea typeface="+mn-ea"/>
                <a:cs typeface="+mn-cs"/>
              </a:rPr>
              <a:t>: Enough training (test) cases to distinguish valid patterns.</a:t>
            </a:r>
          </a:p>
          <a:p>
            <a:pPr>
              <a:defRPr/>
            </a:pPr>
            <a:r>
              <a:rPr lang="en-US" sz="2800" b="1" dirty="0"/>
              <a:t>Decision tree programs construct a decision tree T from a set of training cases. The advantage of a decision tree learning is that a program, rather than a knowledge engineer, elicits knowledge from an expert.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2A171AC-7012-6CD3-5665-A4963632AC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- decision trees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3CC339E-ADA2-AA6F-2CE2-88E840305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81000" indent="-381000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Problem: decide whether to wait for a table at a restaurant, based on the following attributes: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Alternate: is there an alternative restaurant nearby?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Bar: is there a comfortable bar area to wait in?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Fri/Sat: is today Friday or Saturday?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Hungry: are we hungry?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Patrons: number of people in the restaurant (None, Some, Full)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Price: price range ($, $$, $$$)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Raining: is it raining outside?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Reservation: have we made a reservation?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Type: kind of restaurant (French, Italian, Thai, Burger)</a:t>
            </a:r>
          </a:p>
          <a:p>
            <a:pPr marL="800100" lvl="1" indent="-3429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000"/>
              <a:t> WaitEstimate: estimated waiting time (0-10, 10-30, 30-60, &gt;60)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893E5A8-7AD7-6B0F-0D92-E2486C1F3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hangingPunct="1"/>
            <a:r>
              <a:rPr lang="en-US" altLang="en-US"/>
              <a:t>Attribute-based representations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8169137-BAFA-A959-4F8F-1C7B86DF0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en-US" sz="1800"/>
              <a:t>Examples described by </a:t>
            </a:r>
            <a:r>
              <a:rPr lang="en-US" altLang="en-US" sz="1800">
                <a:solidFill>
                  <a:schemeClr val="accent2"/>
                </a:solidFill>
              </a:rPr>
              <a:t>attribute values </a:t>
            </a:r>
            <a:r>
              <a:rPr lang="en-US" altLang="en-US" sz="1800"/>
              <a:t>(Boolean, discrete, continuous)</a:t>
            </a:r>
          </a:p>
          <a:p>
            <a:pPr eaLnBrk="1" hangingPunct="1"/>
            <a:r>
              <a:rPr lang="en-US" altLang="en-US" sz="1800"/>
              <a:t>E.g., situations where I will/won't wait for a table:</a:t>
            </a:r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r>
              <a:rPr lang="en-US" altLang="en-US" sz="1800"/>
              <a:t>
</a:t>
            </a:r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/>
            <a:endParaRPr lang="en-US" altLang="en-US" sz="1800">
              <a:solidFill>
                <a:schemeClr val="accent2"/>
              </a:solidFill>
            </a:endParaRPr>
          </a:p>
          <a:p>
            <a:pPr eaLnBrk="1" hangingPunct="1"/>
            <a:endParaRPr lang="en-US" altLang="en-US" sz="1800">
              <a:solidFill>
                <a:schemeClr val="accent2"/>
              </a:solidFill>
            </a:endParaRPr>
          </a:p>
          <a:p>
            <a:pPr eaLnBrk="1" hangingPunct="1"/>
            <a:endParaRPr lang="en-US" altLang="en-US" sz="1800">
              <a:solidFill>
                <a:schemeClr val="accent2"/>
              </a:solidFill>
            </a:endParaRPr>
          </a:p>
          <a:p>
            <a:pPr eaLnBrk="1" hangingPunct="1"/>
            <a:endParaRPr lang="en-US" altLang="en-US" sz="1800">
              <a:solidFill>
                <a:schemeClr val="accent2"/>
              </a:solidFill>
            </a:endParaRPr>
          </a:p>
          <a:p>
            <a:pPr eaLnBrk="1" hangingPunct="1"/>
            <a:endParaRPr lang="en-US" altLang="en-US" sz="1800">
              <a:solidFill>
                <a:schemeClr val="accent2"/>
              </a:solidFill>
            </a:endParaRPr>
          </a:p>
          <a:p>
            <a:pPr eaLnBrk="1" hangingPunct="1"/>
            <a:endParaRPr lang="en-US" altLang="en-US" sz="1800">
              <a:solidFill>
                <a:schemeClr val="accent2"/>
              </a:solidFill>
            </a:endParaRPr>
          </a:p>
          <a:p>
            <a:pPr eaLnBrk="1" hangingPunct="1"/>
            <a:endParaRPr lang="en-US" altLang="en-US" sz="1800">
              <a:solidFill>
                <a:schemeClr val="accent2"/>
              </a:solidFill>
            </a:endParaRPr>
          </a:p>
          <a:p>
            <a:pPr eaLnBrk="1" hangingPunct="1"/>
            <a:r>
              <a:rPr lang="en-US" altLang="en-US" sz="1800">
                <a:solidFill>
                  <a:schemeClr val="accent2"/>
                </a:solidFill>
              </a:rPr>
              <a:t>Classification</a:t>
            </a:r>
            <a:r>
              <a:rPr lang="en-US" altLang="en-US" sz="1800"/>
              <a:t> of examples is </a:t>
            </a:r>
            <a:r>
              <a:rPr lang="en-US" altLang="en-US" sz="1800">
                <a:solidFill>
                  <a:schemeClr val="accent2"/>
                </a:solidFill>
              </a:rPr>
              <a:t>positive</a:t>
            </a:r>
            <a:r>
              <a:rPr lang="en-US" altLang="en-US" sz="1800"/>
              <a:t> (T) or </a:t>
            </a:r>
            <a:r>
              <a:rPr lang="en-US" altLang="en-US" sz="1800">
                <a:solidFill>
                  <a:schemeClr val="accent2"/>
                </a:solidFill>
              </a:rPr>
              <a:t>negative</a:t>
            </a:r>
            <a:r>
              <a:rPr lang="en-US" altLang="en-US" sz="1800"/>
              <a:t> (F)</a:t>
            </a:r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F3759570-83BB-02BA-2ED4-0B3DB53DC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06" t="29167" r="9766" b="19792"/>
          <a:stretch>
            <a:fillRect/>
          </a:stretch>
        </p:blipFill>
        <p:spPr bwMode="auto">
          <a:xfrm>
            <a:off x="457200" y="2133600"/>
            <a:ext cx="8382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 descr="restaurant-tree">
            <a:extLst>
              <a:ext uri="{FF2B5EF4-FFF2-40B4-BE49-F238E27FC236}">
                <a16:creationId xmlns:a16="http://schemas.microsoft.com/office/drawing/2014/main" id="{6FE993A1-E639-6F93-D3A2-B3F782EAF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682875"/>
            <a:ext cx="6019800" cy="399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Rectangle 2">
            <a:extLst>
              <a:ext uri="{FF2B5EF4-FFF2-40B4-BE49-F238E27FC236}">
                <a16:creationId xmlns:a16="http://schemas.microsoft.com/office/drawing/2014/main" id="{877583FF-7473-FB8B-0271-E6D38117E0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9525"/>
            <a:ext cx="8229600" cy="533400"/>
          </a:xfrm>
        </p:spPr>
        <p:txBody>
          <a:bodyPr/>
          <a:lstStyle/>
          <a:p>
            <a:pPr eaLnBrk="1" hangingPunct="1"/>
            <a:r>
              <a:rPr lang="en-US" altLang="en-US" sz="3200"/>
              <a:t>Decision trees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68519289-D00B-826D-02C8-8D83D911F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0363" y="396875"/>
            <a:ext cx="8382000" cy="919163"/>
          </a:xfrm>
        </p:spPr>
        <p:txBody>
          <a:bodyPr/>
          <a:lstStyle/>
          <a:p>
            <a:pPr eaLnBrk="1" hangingPunct="1"/>
            <a:r>
              <a:rPr lang="en-US" altLang="en-US" sz="2400"/>
              <a:t>One possible representation for hypotheses</a:t>
            </a:r>
          </a:p>
          <a:p>
            <a:pPr eaLnBrk="1" hangingPunct="1"/>
            <a:r>
              <a:rPr lang="en-US" altLang="en-US" sz="2400"/>
              <a:t>E.g., here is the “true” tree for deciding whether to wait:</a:t>
            </a:r>
          </a:p>
        </p:txBody>
      </p:sp>
      <p:pic>
        <p:nvPicPr>
          <p:cNvPr id="31749" name="Picture 4">
            <a:extLst>
              <a:ext uri="{FF2B5EF4-FFF2-40B4-BE49-F238E27FC236}">
                <a16:creationId xmlns:a16="http://schemas.microsoft.com/office/drawing/2014/main" id="{CA7C1047-218A-CC3F-81D1-F25FD2039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06" t="29167" r="9766" b="19792"/>
          <a:stretch>
            <a:fillRect/>
          </a:stretch>
        </p:blipFill>
        <p:spPr bwMode="auto">
          <a:xfrm>
            <a:off x="3810000" y="1428750"/>
            <a:ext cx="5105400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TextBox 1">
            <a:extLst>
              <a:ext uri="{FF2B5EF4-FFF2-40B4-BE49-F238E27FC236}">
                <a16:creationId xmlns:a16="http://schemas.microsoft.com/office/drawing/2014/main" id="{855C8971-40C1-DA4F-AE08-E261CC40E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048125"/>
            <a:ext cx="1504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 b="1"/>
              <a:t>Training Set</a:t>
            </a:r>
          </a:p>
        </p:txBody>
      </p:sp>
      <p:sp>
        <p:nvSpPr>
          <p:cNvPr id="31751" name="TextBox 2">
            <a:extLst>
              <a:ext uri="{FF2B5EF4-FFF2-40B4-BE49-F238E27FC236}">
                <a16:creationId xmlns:a16="http://schemas.microsoft.com/office/drawing/2014/main" id="{F55A6CA8-E14C-A95A-5214-F2807DB7F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200275"/>
            <a:ext cx="168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 b="1"/>
              <a:t>Decision Tree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35A7B02-18C1-0357-D0A7-E956DF371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Expressiveness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63884D4-B9AB-0D21-00F1-A6F3039DA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Decision trees can express any function of the input attributes.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E.g., for Boolean functions, truth table row </a:t>
            </a:r>
            <a:r>
              <a:rPr lang="en-US" altLang="en-US" sz="1800">
                <a:cs typeface="Arial" panose="020B0604020202020204" pitchFamily="34" charset="0"/>
              </a:rPr>
              <a:t>→ </a:t>
            </a:r>
            <a:r>
              <a:rPr lang="en-US" altLang="en-US" sz="1800"/>
              <a:t>path to leaf: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Trivially, there is a consistent decision tree for any training set with one path to leaf for each example (unless </a:t>
            </a:r>
            <a:r>
              <a:rPr lang="en-US" altLang="en-US" sz="1800" i="1"/>
              <a:t>f</a:t>
            </a:r>
            <a:r>
              <a:rPr lang="en-US" altLang="en-US" sz="1800"/>
              <a:t> nondeterministic in </a:t>
            </a:r>
            <a:r>
              <a:rPr lang="en-US" altLang="en-US" sz="1800" i="1"/>
              <a:t>x</a:t>
            </a:r>
            <a:r>
              <a:rPr lang="en-US" altLang="en-US" sz="1800"/>
              <a:t>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but it probably won't generalize to new examples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Prefer to find more </a:t>
            </a:r>
            <a:r>
              <a:rPr lang="en-US" altLang="en-US" sz="1800">
                <a:solidFill>
                  <a:schemeClr val="accent2"/>
                </a:solidFill>
              </a:rPr>
              <a:t>compact</a:t>
            </a:r>
            <a:r>
              <a:rPr lang="en-US" altLang="en-US" sz="1800"/>
              <a:t> decision trees</a:t>
            </a:r>
          </a:p>
        </p:txBody>
      </p:sp>
      <p:pic>
        <p:nvPicPr>
          <p:cNvPr id="32772" name="Picture 4" descr="xor-decision-tree">
            <a:extLst>
              <a:ext uri="{FF2B5EF4-FFF2-40B4-BE49-F238E27FC236}">
                <a16:creationId xmlns:a16="http://schemas.microsoft.com/office/drawing/2014/main" id="{86BE5FD3-7FB9-87B5-1FDE-9966E36F1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38400"/>
            <a:ext cx="5791200" cy="193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A8C5BF47-E911-4ECD-8FF2-898A3AD5D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solidFill>
                  <a:schemeClr val="tx1"/>
                </a:solidFill>
              </a:rPr>
              <a:t>Some specific applications include</a:t>
            </a:r>
            <a:br>
              <a:rPr lang="en-US" altLang="en-US" sz="3600">
                <a:solidFill>
                  <a:schemeClr val="tx1"/>
                </a:solidFill>
              </a:rPr>
            </a:br>
            <a:endParaRPr lang="en-US" altLang="en-US" sz="3600"/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776495DE-5650-3D3F-1C0F-63EB76F691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b="1"/>
              <a:t>◊ medical diagnosis,</a:t>
            </a:r>
          </a:p>
          <a:p>
            <a:pPr>
              <a:buFontTx/>
              <a:buNone/>
            </a:pPr>
            <a:r>
              <a:rPr lang="en-US" altLang="en-US" b="1"/>
              <a:t>◊ credit risk assessment of loan applications,</a:t>
            </a:r>
          </a:p>
          <a:p>
            <a:pPr>
              <a:buFontTx/>
              <a:buNone/>
            </a:pPr>
            <a:r>
              <a:rPr lang="en-US" altLang="en-US" b="1"/>
              <a:t>◊ equipment malfunctions by their cause,</a:t>
            </a:r>
          </a:p>
          <a:p>
            <a:pPr>
              <a:buFontTx/>
              <a:buNone/>
            </a:pPr>
            <a:r>
              <a:rPr lang="en-US" altLang="en-US" b="1"/>
              <a:t>◊ classification of plant diseases, and</a:t>
            </a:r>
          </a:p>
          <a:p>
            <a:pPr>
              <a:buFontTx/>
              <a:buNone/>
            </a:pPr>
            <a:r>
              <a:rPr lang="en-US" altLang="en-US" b="1"/>
              <a:t>◊ web search classification.</a:t>
            </a:r>
          </a:p>
          <a:p>
            <a:pPr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EC8BB50-8871-3600-B4CC-3BEB48FD7A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Decision tree learning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DE79916-E691-B300-55A4-956B2002F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Aim: find a small tree consistent with the training examples</a:t>
            </a:r>
          </a:p>
          <a:p>
            <a:pPr eaLnBrk="1" hangingPunct="1"/>
            <a:r>
              <a:rPr lang="en-US" altLang="en-US" sz="2000"/>
              <a:t>Idea: (recursively) choose "most significant" attribute as root of (sub)tree</a:t>
            </a:r>
          </a:p>
          <a:p>
            <a:pPr eaLnBrk="1" hangingPunct="1"/>
            <a:endParaRPr lang="en-US" altLang="en-US" sz="2000"/>
          </a:p>
        </p:txBody>
      </p:sp>
      <p:pic>
        <p:nvPicPr>
          <p:cNvPr id="35844" name="Picture 4">
            <a:extLst>
              <a:ext uri="{FF2B5EF4-FFF2-40B4-BE49-F238E27FC236}">
                <a16:creationId xmlns:a16="http://schemas.microsoft.com/office/drawing/2014/main" id="{7FE396F3-F562-6DA2-A369-5B90E164E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06" t="23958" r="8984" b="27083"/>
          <a:stretch>
            <a:fillRect/>
          </a:stretch>
        </p:blipFill>
        <p:spPr bwMode="auto">
          <a:xfrm>
            <a:off x="838200" y="2743200"/>
            <a:ext cx="72390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C58A1F7-BE24-9920-A600-52D8921871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Choosing an attribute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2A301EC-6F19-9AAD-86C3-2421AF0901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Idea: a good attribute splits the examples into subsets that are (ideally) "all positive" or "all negative"</a:t>
            </a:r>
          </a:p>
          <a:p>
            <a:pPr eaLnBrk="1" hangingPunct="1">
              <a:buFontTx/>
              <a:buNone/>
            </a:pPr>
            <a:r>
              <a:rPr lang="en-US" altLang="en-US" sz="2400"/>
              <a:t>
</a:t>
            </a:r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/>
            <a:r>
              <a:rPr lang="en-US" altLang="en-US" sz="2400" i="1"/>
              <a:t>Patrons?</a:t>
            </a:r>
            <a:r>
              <a:rPr lang="en-US" altLang="en-US" sz="2400"/>
              <a:t> is a better choice</a:t>
            </a:r>
          </a:p>
        </p:txBody>
      </p:sp>
      <p:pic>
        <p:nvPicPr>
          <p:cNvPr id="36868" name="Picture 4" descr="restaurant-roots">
            <a:extLst>
              <a:ext uri="{FF2B5EF4-FFF2-40B4-BE49-F238E27FC236}">
                <a16:creationId xmlns:a16="http://schemas.microsoft.com/office/drawing/2014/main" id="{6DA2AE2A-CDC3-ADB7-866B-964123A92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19400"/>
            <a:ext cx="76200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B8A6C1B-CBFF-C293-4703-EF606BE773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information theory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698360F-E115-AE4D-1284-C57F7E1D6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To implement </a:t>
            </a:r>
            <a:r>
              <a:rPr lang="en-US" altLang="en-US" sz="2800">
                <a:latin typeface="Courier New" panose="02070309020205020404" pitchFamily="49" charset="0"/>
              </a:rPr>
              <a:t>Choose-Attribute</a:t>
            </a:r>
            <a:r>
              <a:rPr lang="en-US" altLang="en-US" sz="2800"/>
              <a:t> in the DTL algorithm</a:t>
            </a:r>
          </a:p>
          <a:p>
            <a:pPr eaLnBrk="1" hangingPunct="1"/>
            <a:r>
              <a:rPr lang="en-US" altLang="en-US" sz="2800"/>
              <a:t>Information Content (Entropy):</a:t>
            </a:r>
          </a:p>
          <a:p>
            <a:pPr algn="ctr" eaLnBrk="1" hangingPunct="1">
              <a:buFontTx/>
              <a:buNone/>
            </a:pPr>
            <a:r>
              <a:rPr lang="en-US" altLang="en-US" sz="2800"/>
              <a:t>I(P(v</a:t>
            </a:r>
            <a:r>
              <a:rPr lang="en-US" altLang="en-US" sz="2800" baseline="-25000"/>
              <a:t>1</a:t>
            </a:r>
            <a:r>
              <a:rPr lang="en-US" altLang="en-US" sz="2800"/>
              <a:t>), … , P(v</a:t>
            </a:r>
            <a:r>
              <a:rPr lang="en-US" altLang="en-US" sz="2800" baseline="-25000"/>
              <a:t>n</a:t>
            </a:r>
            <a:r>
              <a:rPr lang="en-US" altLang="en-US" sz="2800"/>
              <a:t>)) = </a:t>
            </a:r>
            <a:r>
              <a:rPr lang="el-GR" altLang="en-US" sz="2800">
                <a:cs typeface="Arial" panose="020B0604020202020204" pitchFamily="34" charset="0"/>
              </a:rPr>
              <a:t>Σ</a:t>
            </a:r>
            <a:r>
              <a:rPr lang="en-US" altLang="en-US" sz="2800" baseline="-25000"/>
              <a:t>i=1</a:t>
            </a:r>
            <a:r>
              <a:rPr lang="en-US" altLang="en-US" sz="2800"/>
              <a:t> -P(v</a:t>
            </a:r>
            <a:r>
              <a:rPr lang="en-US" altLang="en-US" sz="2800" baseline="-25000"/>
              <a:t>i</a:t>
            </a:r>
            <a:r>
              <a:rPr lang="en-US" altLang="en-US" sz="2800"/>
              <a:t>) log</a:t>
            </a:r>
            <a:r>
              <a:rPr lang="en-US" altLang="en-US" sz="2800" baseline="-25000"/>
              <a:t>2</a:t>
            </a:r>
            <a:r>
              <a:rPr lang="en-US" altLang="en-US" sz="2800"/>
              <a:t> P(v</a:t>
            </a:r>
            <a:r>
              <a:rPr lang="en-US" altLang="en-US" sz="2800" baseline="-25000"/>
              <a:t>i</a:t>
            </a:r>
            <a:r>
              <a:rPr lang="en-US" altLang="en-US" sz="2800"/>
              <a:t>)</a:t>
            </a:r>
          </a:p>
          <a:p>
            <a:pPr eaLnBrk="1" hangingPunct="1"/>
            <a:r>
              <a:rPr lang="en-US" altLang="en-US" sz="2800"/>
              <a:t>For a training set containing </a:t>
            </a:r>
            <a:r>
              <a:rPr lang="en-US" altLang="en-US" sz="2800" i="1"/>
              <a:t>p</a:t>
            </a:r>
            <a:r>
              <a:rPr lang="en-US" altLang="en-US" sz="2800"/>
              <a:t> positive examples and </a:t>
            </a:r>
            <a:r>
              <a:rPr lang="en-US" altLang="en-US" sz="2800" i="1"/>
              <a:t>n</a:t>
            </a:r>
            <a:r>
              <a:rPr lang="en-US" altLang="en-US" sz="2800"/>
              <a:t> negative examples:</a:t>
            </a:r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graphicFrame>
        <p:nvGraphicFramePr>
          <p:cNvPr id="37892" name="Object 17">
            <a:extLst>
              <a:ext uri="{FF2B5EF4-FFF2-40B4-BE49-F238E27FC236}">
                <a16:creationId xmlns:a16="http://schemas.microsoft.com/office/drawing/2014/main" id="{2076C754-2FB6-48D1-3318-572F451E64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648200"/>
          <a:ext cx="64008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27400" imgH="419100" progId="Equation.3">
                  <p:embed/>
                </p:oleObj>
              </mc:Choice>
              <mc:Fallback>
                <p:oleObj name="Equation" r:id="rId2" imgW="3327400" imgH="4191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648200"/>
                        <a:ext cx="64008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A82204A-5296-BA49-2D3E-C3C13A2122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Information gain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36D612B-DA17-8A28-038C-6B717D04F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 chosen attribute </a:t>
            </a:r>
            <a:r>
              <a:rPr lang="en-US" altLang="en-US" sz="2400" i="1"/>
              <a:t>A</a:t>
            </a:r>
            <a:r>
              <a:rPr lang="en-US" altLang="en-US" sz="2400"/>
              <a:t> divides the training set </a:t>
            </a:r>
            <a:r>
              <a:rPr lang="en-US" altLang="en-US" sz="2400" i="1"/>
              <a:t>E</a:t>
            </a:r>
            <a:r>
              <a:rPr lang="en-US" altLang="en-US" sz="2400"/>
              <a:t> into subsets </a:t>
            </a:r>
            <a:r>
              <a:rPr lang="en-US" altLang="en-US" sz="2400" i="1"/>
              <a:t>E</a:t>
            </a:r>
            <a:r>
              <a:rPr lang="en-US" altLang="en-US" sz="2400" i="1" baseline="-25000"/>
              <a:t>1</a:t>
            </a:r>
            <a:r>
              <a:rPr lang="en-US" altLang="en-US" sz="2400"/>
              <a:t>, … , </a:t>
            </a:r>
            <a:r>
              <a:rPr lang="en-US" altLang="en-US" sz="2400" i="1"/>
              <a:t>E</a:t>
            </a:r>
            <a:r>
              <a:rPr lang="en-US" altLang="en-US" sz="2400" i="1" baseline="-25000">
                <a:latin typeface="Monotype Corsiva" panose="03010101010201010101" pitchFamily="66" charset="0"/>
              </a:rPr>
              <a:t>v</a:t>
            </a:r>
            <a:r>
              <a:rPr lang="en-US" altLang="en-US" sz="2400"/>
              <a:t> according to their values for </a:t>
            </a:r>
            <a:r>
              <a:rPr lang="en-US" altLang="en-US" sz="2400" i="1"/>
              <a:t>A</a:t>
            </a:r>
            <a:r>
              <a:rPr lang="en-US" altLang="en-US" sz="2400"/>
              <a:t>, where </a:t>
            </a:r>
            <a:r>
              <a:rPr lang="en-US" altLang="en-US" sz="2400" i="1"/>
              <a:t>A</a:t>
            </a:r>
            <a:r>
              <a:rPr lang="en-US" altLang="en-US" sz="2400"/>
              <a:t> has </a:t>
            </a:r>
            <a:r>
              <a:rPr lang="en-US" altLang="en-US" sz="2400" i="1">
                <a:latin typeface="Monotype Corsiva" panose="03010101010201010101" pitchFamily="66" charset="0"/>
              </a:rPr>
              <a:t>v</a:t>
            </a:r>
            <a:r>
              <a:rPr lang="en-US" altLang="en-US" sz="2400"/>
              <a:t> distinct values.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Information Gain (IG) or reduction in entropy from the attribute test: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Choose the attribute with the largest IG</a:t>
            </a:r>
          </a:p>
        </p:txBody>
      </p:sp>
      <p:graphicFrame>
        <p:nvGraphicFramePr>
          <p:cNvPr id="38916" name="Object 8">
            <a:extLst>
              <a:ext uri="{FF2B5EF4-FFF2-40B4-BE49-F238E27FC236}">
                <a16:creationId xmlns:a16="http://schemas.microsoft.com/office/drawing/2014/main" id="{C850E7BD-DBAF-043E-9367-6656E97C29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2743200"/>
          <a:ext cx="57150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800" imgH="444500" progId="Equation.3">
                  <p:embed/>
                </p:oleObj>
              </mc:Choice>
              <mc:Fallback>
                <p:oleObj name="Equation" r:id="rId2" imgW="2717800" imgH="444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743200"/>
                        <a:ext cx="57150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9">
            <a:extLst>
              <a:ext uri="{FF2B5EF4-FFF2-40B4-BE49-F238E27FC236}">
                <a16:creationId xmlns:a16="http://schemas.microsoft.com/office/drawing/2014/main" id="{0C86C43D-B1A4-4D79-5F8A-1EAC276F83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419600"/>
          <a:ext cx="586740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01900" imgH="419100" progId="Equation.3">
                  <p:embed/>
                </p:oleObj>
              </mc:Choice>
              <mc:Fallback>
                <p:oleObj name="Equation" r:id="rId4" imgW="25019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419600"/>
                        <a:ext cx="5867400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D7D0F04-2E20-790A-5BC2-F586E4A4E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Information gain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79C15D8-3350-3F4A-BBEE-D5A5C97EA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/>
              <a:t>For the training set, </a:t>
            </a:r>
            <a:r>
              <a:rPr lang="en-US" altLang="en-US" sz="2000" i="1">
                <a:latin typeface="Monotype Corsiva" panose="03010101010201010101" pitchFamily="66" charset="0"/>
              </a:rPr>
              <a:t>p</a:t>
            </a:r>
            <a:r>
              <a:rPr lang="en-US" altLang="en-US" sz="2000" i="1"/>
              <a:t> = </a:t>
            </a:r>
            <a:r>
              <a:rPr lang="en-US" altLang="en-US" sz="2000" i="1">
                <a:latin typeface="Monotype Corsiva" panose="03010101010201010101" pitchFamily="66" charset="0"/>
              </a:rPr>
              <a:t>n</a:t>
            </a:r>
            <a:r>
              <a:rPr lang="en-US" altLang="en-US" sz="2000" i="1"/>
              <a:t> = 6, I(6/12, 6/12) = 1</a:t>
            </a:r>
            <a:r>
              <a:rPr lang="en-US" altLang="en-US" sz="2000"/>
              <a:t> bit</a:t>
            </a:r>
          </a:p>
          <a:p>
            <a:pPr eaLnBrk="1" hangingPunct="1">
              <a:buFontTx/>
              <a:buNone/>
            </a:pPr>
            <a:endParaRPr lang="en-US" altLang="en-US" sz="2000"/>
          </a:p>
          <a:p>
            <a:pPr eaLnBrk="1" hangingPunct="1">
              <a:buFontTx/>
              <a:buNone/>
            </a:pPr>
            <a:r>
              <a:rPr lang="en-US" altLang="en-US" sz="2000"/>
              <a:t>Consider the attributes </a:t>
            </a:r>
            <a:r>
              <a:rPr lang="en-US" altLang="en-US" sz="2000" i="1"/>
              <a:t>Patrons</a:t>
            </a:r>
            <a:r>
              <a:rPr lang="en-US" altLang="en-US" sz="2000"/>
              <a:t> and </a:t>
            </a:r>
            <a:r>
              <a:rPr lang="en-US" altLang="en-US" sz="2000" i="1"/>
              <a:t>Type</a:t>
            </a:r>
            <a:r>
              <a:rPr lang="en-US" altLang="en-US" sz="2000"/>
              <a:t> (and others too):</a:t>
            </a:r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>
              <a:buFontTx/>
              <a:buNone/>
            </a:pPr>
            <a:endParaRPr lang="en-US" altLang="en-US" sz="2000" i="1"/>
          </a:p>
          <a:p>
            <a:pPr eaLnBrk="1" hangingPunct="1">
              <a:buFontTx/>
              <a:buNone/>
            </a:pPr>
            <a:endParaRPr lang="en-US" altLang="en-US" sz="2000" i="1"/>
          </a:p>
          <a:p>
            <a:pPr eaLnBrk="1" hangingPunct="1">
              <a:buFontTx/>
              <a:buNone/>
            </a:pPr>
            <a:r>
              <a:rPr lang="en-US" altLang="en-US" sz="2000" i="1"/>
              <a:t>Patrons</a:t>
            </a:r>
            <a:r>
              <a:rPr lang="en-US" altLang="en-US" sz="2000"/>
              <a:t> has the highest IG of all attributes and so is chosen by the DTL algorithm as the root</a:t>
            </a:r>
          </a:p>
        </p:txBody>
      </p:sp>
      <p:graphicFrame>
        <p:nvGraphicFramePr>
          <p:cNvPr id="39940" name="Object 4">
            <a:extLst>
              <a:ext uri="{FF2B5EF4-FFF2-40B4-BE49-F238E27FC236}">
                <a16:creationId xmlns:a16="http://schemas.microsoft.com/office/drawing/2014/main" id="{C10B38B3-EBE6-0A1C-2B22-4056312F06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2895600"/>
          <a:ext cx="7467600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57700" imgH="812800" progId="Equation.3">
                  <p:embed/>
                </p:oleObj>
              </mc:Choice>
              <mc:Fallback>
                <p:oleObj name="Equation" r:id="rId2" imgW="4457700" imgH="81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895600"/>
                        <a:ext cx="7467600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A085A1E-A7DF-D9BF-210C-95585DDD8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contd.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A604E2C-78E2-E741-7E4B-E51266E8C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Decision tree learned from the 12 examples:</a:t>
            </a:r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/>
            <a:r>
              <a:rPr lang="en-US" altLang="en-US" sz="2400"/>
              <a:t>Substantially simpler than “true” tree---a more complex hypothesis isn’t justified by small amount of data</a:t>
            </a:r>
          </a:p>
        </p:txBody>
      </p:sp>
      <p:pic>
        <p:nvPicPr>
          <p:cNvPr id="40964" name="Picture 4" descr="induced-restaurant-tree">
            <a:extLst>
              <a:ext uri="{FF2B5EF4-FFF2-40B4-BE49-F238E27FC236}">
                <a16:creationId xmlns:a16="http://schemas.microsoft.com/office/drawing/2014/main" id="{138064E5-F2F2-293F-A850-52E7D2455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981200"/>
            <a:ext cx="4038600" cy="324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EE5B9E8-7EEB-4F56-EDF5-22064C7DC3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0A79E27-5628-AB2B-5527-6778B689C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Learning needed for unknown environments, lazy designers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Learning agent = performance element + learning element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For supervised learning, the aim is to find a simple hypothesis approximately consistent with training examples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Decision tree learning using information gain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Learning performance = prediction accuracy measured on test set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38445237-C293-50D8-3FE6-EFA182FF1E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br>
              <a:rPr lang="en-US" altLang="en-US" sz="3200" b="1">
                <a:solidFill>
                  <a:schemeClr val="tx1"/>
                </a:solidFill>
              </a:rPr>
            </a:br>
            <a:r>
              <a:rPr lang="en-US" altLang="en-US" sz="3200" b="1">
                <a:solidFill>
                  <a:schemeClr val="tx1"/>
                </a:solidFill>
              </a:rPr>
              <a:t>Explanation Based Learning (EBL)</a:t>
            </a:r>
            <a:br>
              <a:rPr lang="en-US" altLang="en-US" sz="3200" b="1">
                <a:solidFill>
                  <a:schemeClr val="tx1"/>
                </a:solidFill>
              </a:rPr>
            </a:br>
            <a:endParaRPr lang="en-US" altLang="en-US" sz="3200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F488ACD5-9F9F-06E8-48A1-595273D058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610600" cy="5638800"/>
          </a:xfrm>
        </p:spPr>
        <p:txBody>
          <a:bodyPr/>
          <a:lstStyle/>
          <a:p>
            <a:r>
              <a:rPr lang="en-US" altLang="en-US"/>
              <a:t>Human learning is accomplished by examining particular situations and relating them to background knowledge in the form of known general principles. This kind of learning, called "Explanation Based Learning (EBL)".</a:t>
            </a:r>
          </a:p>
          <a:p>
            <a:r>
              <a:rPr lang="en-US" altLang="en-US"/>
              <a:t>EBL provides a way of generalizing a machine-generated explanation of a situation into a rule which applies not only to the current situation but to similar ones as well.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8442D8D3-A690-BB11-3DBE-5E7AE5E01B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457200"/>
            <a:ext cx="9144000" cy="6400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/>
              <a:t>The step by step approach is :</a:t>
            </a:r>
          </a:p>
          <a:p>
            <a:pPr>
              <a:buFontTx/>
              <a:buNone/>
            </a:pPr>
            <a:r>
              <a:rPr lang="en-US" altLang="en-US" b="1"/>
              <a:t>■ From an example, first construct an explanation, by applying a </a:t>
            </a:r>
            <a:r>
              <a:rPr lang="en-US" altLang="en-US"/>
              <a:t>problem solver, to relate the example to some general domain theory.</a:t>
            </a:r>
          </a:p>
          <a:p>
            <a:pPr>
              <a:buFontTx/>
              <a:buNone/>
            </a:pPr>
            <a:r>
              <a:rPr lang="en-US" altLang="en-US" b="1"/>
              <a:t>■ The result is a "proof" or trace of the example with respect to the </a:t>
            </a:r>
            <a:r>
              <a:rPr lang="en-US" altLang="en-US"/>
              <a:t>theory.</a:t>
            </a:r>
          </a:p>
          <a:p>
            <a:pPr>
              <a:buFontTx/>
              <a:buNone/>
            </a:pPr>
            <a:r>
              <a:rPr lang="en-US" altLang="en-US" b="1"/>
              <a:t>■ This is then generalized, by discarding irrelevant parts of it, into an </a:t>
            </a:r>
            <a:r>
              <a:rPr lang="en-US" altLang="en-US"/>
              <a:t>explanation that applies to other examples too.</a:t>
            </a:r>
          </a:p>
          <a:p>
            <a:pPr>
              <a:buFontTx/>
              <a:buNone/>
            </a:pPr>
            <a:r>
              <a:rPr lang="en-US" altLang="en-US" b="1"/>
              <a:t>■ Finally, operational rules are extracted from the general explanation.</a:t>
            </a:r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4014EA77-E70E-75A3-55E0-4234618F5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altLang="en-US"/>
              <a:t>EBL architecture</a:t>
            </a:r>
          </a:p>
        </p:txBody>
      </p:sp>
      <p:pic>
        <p:nvPicPr>
          <p:cNvPr id="45059" name="Picture 2" descr="E:\Thesis images\bad images\15.png">
            <a:extLst>
              <a:ext uri="{FF2B5EF4-FFF2-40B4-BE49-F238E27FC236}">
                <a16:creationId xmlns:a16="http://schemas.microsoft.com/office/drawing/2014/main" id="{F58ADF0E-0E07-05C6-7101-2553DD759E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838200"/>
            <a:ext cx="7620000" cy="5943600"/>
          </a:xfr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291E0F82-E26B-ABE5-E7D5-F36EC247B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EBL System Schematic</a:t>
            </a:r>
          </a:p>
        </p:txBody>
      </p:sp>
      <p:pic>
        <p:nvPicPr>
          <p:cNvPr id="46083" name="Picture 2" descr="E:\Thesis images\bad images\16.png">
            <a:extLst>
              <a:ext uri="{FF2B5EF4-FFF2-40B4-BE49-F238E27FC236}">
                <a16:creationId xmlns:a16="http://schemas.microsoft.com/office/drawing/2014/main" id="{3FC97866-0C94-CBA9-8342-10F92E4BC8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752600"/>
            <a:ext cx="8915400" cy="4724400"/>
          </a:xfr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CFC2CE4D-AE7C-9802-DE85-116F7DB8A1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52400"/>
            <a:ext cx="9144000" cy="5821363"/>
          </a:xfrm>
        </p:spPr>
        <p:txBody>
          <a:bodyPr/>
          <a:lstStyle/>
          <a:p>
            <a:r>
              <a:rPr lang="en-US" altLang="en-US" b="1"/>
              <a:t>Goal concept : A high level description of the concept to be learned; </a:t>
            </a:r>
            <a:r>
              <a:rPr lang="en-US" altLang="en-US"/>
              <a:t>e.g., the definition of a cup in function-structure because it involves functional properties (lift able, stable, open-vessel . . .) rather than</a:t>
            </a:r>
          </a:p>
          <a:p>
            <a:pPr>
              <a:buFontTx/>
              <a:buNone/>
            </a:pPr>
            <a:r>
              <a:rPr lang="en-US" altLang="en-US"/>
              <a:t>   structural features (light, part of, pointing . . .).</a:t>
            </a:r>
          </a:p>
          <a:p>
            <a:r>
              <a:rPr lang="en-US" altLang="en-US" b="1"/>
              <a:t>Training Example : An example which is a set of facts describing an </a:t>
            </a:r>
            <a:r>
              <a:rPr lang="en-US" altLang="en-US"/>
              <a:t>instance of the goal concept</a:t>
            </a:r>
          </a:p>
          <a:p>
            <a:r>
              <a:rPr lang="en-US" altLang="en-US" b="1"/>
              <a:t>Domain theory : A set of facts describing an instance of the goal </a:t>
            </a:r>
            <a:r>
              <a:rPr lang="en-US" altLang="en-US"/>
              <a:t>concept. It represents the facts and rules that constitute what the learner knows.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A715F666-DED6-0372-AE3F-59D98B4B97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altLang="en-US"/>
              <a:t>Contd…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54A20282-C6B7-14BF-76CF-EF1259C116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altLang="en-US"/>
              <a:t>The cup domain includes facts: concavities, bases, and lug, as well as rules: about lift ability, stability and what makes an open vessel.</a:t>
            </a:r>
          </a:p>
          <a:p>
            <a:r>
              <a:rPr lang="en-US" altLang="en-US" b="1"/>
              <a:t>Operational criterion: Specifies the form in which the generalized</a:t>
            </a:r>
            <a:r>
              <a:rPr lang="en-US" altLang="en-US"/>
              <a:t> concept definition may be expressed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BB3B8ECD-6CD4-81FD-14FC-60D4D099C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altLang="en-US"/>
              <a:t>Unsupervised learning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E0EDDBA4-3783-490D-3324-7D6297D78D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839200" cy="1676400"/>
          </a:xfrm>
        </p:spPr>
        <p:txBody>
          <a:bodyPr/>
          <a:lstStyle/>
          <a:p>
            <a:r>
              <a:rPr lang="en-US" altLang="en-US"/>
              <a:t>Clustering is a way to form 'natural groupings' or clusters of patterns. Clustering is often called an unsupervised learning.</a:t>
            </a: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94ECD786-3957-BB3E-86DA-D3312D5CE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49157" name="Object 1">
            <a:extLst>
              <a:ext uri="{FF2B5EF4-FFF2-40B4-BE49-F238E27FC236}">
                <a16:creationId xmlns:a16="http://schemas.microsoft.com/office/drawing/2014/main" id="{848E554E-C3B0-7613-AF69-B63CB62D5D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2971800"/>
          <a:ext cx="57912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2" imgW="4469850" imgH="3352079" progId="PowerPoint.Slide.12">
                  <p:embed/>
                </p:oleObj>
              </mc:Choice>
              <mc:Fallback>
                <p:oleObj name="Slide" r:id="rId2" imgW="4469850" imgH="3352079" progId="PowerPoint.Slide.1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971800"/>
                        <a:ext cx="5791200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6FC2DAD1-B6C7-B9EF-A342-D4EC1B8B4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altLang="en-US"/>
              <a:t>Contd…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0921E7F4-E5D1-5825-65A4-66EB53C260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534400" cy="5486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b="1"/>
              <a:t>■ </a:t>
            </a:r>
            <a:r>
              <a:rPr lang="en-US" altLang="en-US"/>
              <a:t>Clustering is one of the most utilized data mining techniques.</a:t>
            </a:r>
          </a:p>
          <a:p>
            <a:pPr>
              <a:buFontTx/>
              <a:buNone/>
            </a:pPr>
            <a:r>
              <a:rPr lang="en-US" altLang="en-US" b="1"/>
              <a:t>■ The data have no target attribute. The data set is explored to find some </a:t>
            </a:r>
            <a:r>
              <a:rPr lang="en-US" altLang="en-US"/>
              <a:t>intrinsic structures in them.</a:t>
            </a:r>
          </a:p>
          <a:p>
            <a:pPr>
              <a:buFontTx/>
              <a:buNone/>
            </a:pPr>
            <a:r>
              <a:rPr lang="en-US" altLang="en-US" b="1"/>
              <a:t>■ Unlike Classification where the task is to learn to assign instances to </a:t>
            </a:r>
            <a:r>
              <a:rPr lang="en-US" altLang="en-US"/>
              <a:t>predefined classes, in Clustering no predefined classification is required. The task is to learn a classification from the data.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D030DF7C-D141-A7D9-B329-3996834C6E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8229600" cy="715963"/>
          </a:xfrm>
        </p:spPr>
        <p:txBody>
          <a:bodyPr/>
          <a:lstStyle/>
          <a:p>
            <a:r>
              <a:rPr lang="en-US" altLang="en-US" b="1"/>
              <a:t>Reinforcement learning</a:t>
            </a:r>
            <a:endParaRPr lang="en-US" altLang="en-US"/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E4EFA373-10FB-3A79-FADE-0FFF8B82CB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534400" cy="5791200"/>
          </a:xfrm>
        </p:spPr>
        <p:txBody>
          <a:bodyPr/>
          <a:lstStyle/>
          <a:p>
            <a:r>
              <a:rPr lang="en-US" altLang="en-US"/>
              <a:t>Reinforcement learning refers to a class of problems in machine learning which postulate an agent exploring an environment in which the agent </a:t>
            </a:r>
            <a:r>
              <a:rPr lang="en-US" altLang="en-US">
                <a:solidFill>
                  <a:srgbClr val="FF0000"/>
                </a:solidFill>
              </a:rPr>
              <a:t>perceives its current state and takes actions</a:t>
            </a:r>
            <a:r>
              <a:rPr lang="en-US" altLang="en-US"/>
              <a:t>. </a:t>
            </a:r>
          </a:p>
          <a:p>
            <a:r>
              <a:rPr lang="en-US" altLang="en-US"/>
              <a:t>The environment, in return, provides a </a:t>
            </a:r>
            <a:r>
              <a:rPr lang="en-US" altLang="en-US">
                <a:solidFill>
                  <a:srgbClr val="FF0000"/>
                </a:solidFill>
              </a:rPr>
              <a:t>reward</a:t>
            </a:r>
            <a:r>
              <a:rPr lang="en-US" altLang="en-US"/>
              <a:t> (which can be positive or negative). Reinforcement learning algorithms attempt to find a policy for maximizing cumulative reward for the agent over the course of the problem.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44A372BD-7F90-B8D8-B781-872EC4D2C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Contd…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C16EF405-64AA-6F1A-A609-52C69661F4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 other words Reinforcement learning is a computational approach to learning whereby an agent tries to maximize the total amount of reward it receives when interacting with a complex, uncertain environment."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6DBC12F4-1818-3494-1D65-5B2360F9FD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altLang="en-US" b="1"/>
              <a:t>Reinforcement Learning </a:t>
            </a:r>
            <a:endParaRPr lang="en-US" altLang="en-US"/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24D59A5B-9F57-115B-93AE-90018C4A4F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9144000" cy="5791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b="1"/>
              <a:t>Agent - Environment interaction</a:t>
            </a:r>
          </a:p>
          <a:p>
            <a:pPr>
              <a:buFontTx/>
              <a:buNone/>
            </a:pPr>
            <a:r>
              <a:rPr lang="en-US" altLang="en-US" b="1"/>
              <a:t>■ Reinforcement learning (RL) is a computational approach to, </a:t>
            </a:r>
            <a:r>
              <a:rPr lang="en-US" altLang="en-US"/>
              <a:t>understanding and automating, goal-directed learning and decision making.</a:t>
            </a:r>
          </a:p>
          <a:p>
            <a:pPr>
              <a:buFontTx/>
              <a:buNone/>
            </a:pPr>
            <a:r>
              <a:rPr lang="en-US" altLang="en-US" b="1"/>
              <a:t>■ RL emphasis is on learning from interaction with its environment.</a:t>
            </a:r>
          </a:p>
          <a:p>
            <a:pPr>
              <a:buFontTx/>
              <a:buNone/>
            </a:pPr>
            <a:r>
              <a:rPr lang="en-US" altLang="en-US" b="1"/>
              <a:t>■ Reinforcement learning uses a formal framework defining the </a:t>
            </a:r>
            <a:r>
              <a:rPr lang="en-US" altLang="en-US"/>
              <a:t>interaction between a learning agent and its environment in terms of states, actions, and rewards.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94E8416B-B250-2396-35C0-721A136CD3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228600"/>
            <a:ext cx="8458200" cy="1905000"/>
          </a:xfrm>
        </p:spPr>
        <p:txBody>
          <a:bodyPr/>
          <a:lstStyle/>
          <a:p>
            <a:r>
              <a:rPr lang="en-US" altLang="en-US"/>
              <a:t>The state-action pairs form value functions that does efficient search in the space of policies guided by evaluations of all policies.</a:t>
            </a:r>
          </a:p>
        </p:txBody>
      </p:sp>
      <p:pic>
        <p:nvPicPr>
          <p:cNvPr id="54275" name="Picture 3" descr="E:\Thesis images\bad images\19.png">
            <a:extLst>
              <a:ext uri="{FF2B5EF4-FFF2-40B4-BE49-F238E27FC236}">
                <a16:creationId xmlns:a16="http://schemas.microsoft.com/office/drawing/2014/main" id="{0DF235FF-5451-C3BD-B9F7-F92005074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622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DE4C34B1-EBCB-2B46-1784-970292345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839200" cy="914400"/>
          </a:xfrm>
        </p:spPr>
        <p:txBody>
          <a:bodyPr/>
          <a:lstStyle/>
          <a:p>
            <a:r>
              <a:rPr lang="en-US" altLang="en-US" b="1"/>
              <a:t>Agent - Environment interaction</a:t>
            </a:r>
            <a:endParaRPr lang="en-US" altLang="en-US"/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42068B35-43EA-4E92-E502-26905AA51A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9144000" cy="5211763"/>
          </a:xfrm>
        </p:spPr>
        <p:txBody>
          <a:bodyPr/>
          <a:lstStyle/>
          <a:p>
            <a:r>
              <a:rPr lang="en-US" altLang="en-US"/>
              <a:t>The agent and environment interact at each sequence of discrete time steps, t = 0, 1, 2, 3, 4, -----</a:t>
            </a:r>
          </a:p>
          <a:p>
            <a:r>
              <a:rPr lang="en-US" altLang="en-US" b="1"/>
              <a:t>At each discrete time t, the agent (learning system) observes state st ∈ S </a:t>
            </a:r>
            <a:r>
              <a:rPr lang="en-US" altLang="en-US"/>
              <a:t>and chooses action at ∈ A</a:t>
            </a:r>
          </a:p>
          <a:p>
            <a:r>
              <a:rPr lang="en-US" altLang="en-US" sz="2800" b="1"/>
              <a:t>Then agent receives an immediate numerical reward rt+1 ∈ ℜ and the state </a:t>
            </a:r>
            <a:r>
              <a:rPr lang="en-US" altLang="en-US"/>
              <a:t>changes to st+1</a:t>
            </a:r>
          </a:p>
          <a:p>
            <a:r>
              <a:rPr lang="en-US" altLang="en-US" sz="2800" b="1"/>
              <a:t>At each time step, the agent implements a mapping from states to </a:t>
            </a:r>
            <a:r>
              <a:rPr lang="en-US" altLang="en-US" sz="2800"/>
              <a:t>probabilities of </a:t>
            </a:r>
            <a:r>
              <a:rPr lang="en-US" altLang="en-US"/>
              <a:t>selecting each possible action.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839B8D2-6DF6-C23E-FAE6-64AB787BA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altLang="en-US"/>
              <a:t>Contd…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5CF4E3B7-9C47-1CF5-4D20-8925784672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altLang="en-US" b="1"/>
              <a:t>This mapping is called the agent's policy and is denoted πt, where πt(s,a) is </a:t>
            </a:r>
            <a:r>
              <a:rPr lang="en-US" altLang="en-US"/>
              <a:t>the probability that at = a if st ∈ S.</a:t>
            </a:r>
          </a:p>
          <a:p>
            <a:r>
              <a:rPr lang="en-US" altLang="en-US" b="1"/>
              <a:t>Reinforcement learning methods specify how the agent changes its policy </a:t>
            </a:r>
            <a:r>
              <a:rPr lang="en-US" altLang="en-US"/>
              <a:t>as a result of its experience.</a:t>
            </a:r>
          </a:p>
          <a:p>
            <a:r>
              <a:rPr lang="en-US" altLang="en-US" b="1"/>
              <a:t>The agent's goal, is to maximize the total amount of reward it receives </a:t>
            </a:r>
            <a:r>
              <a:rPr lang="en-US" altLang="en-US"/>
              <a:t>over the long run.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95D8FEBF-0CDB-3ABB-AD82-EF7741E4B4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229600" cy="762000"/>
          </a:xfrm>
        </p:spPr>
        <p:txBody>
          <a:bodyPr/>
          <a:lstStyle/>
          <a:p>
            <a:r>
              <a:rPr lang="en-US" altLang="en-US" b="1"/>
              <a:t>Key Features of RL</a:t>
            </a:r>
            <a:endParaRPr lang="en-US" altLang="en-US"/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95ADD5F4-4360-1BC6-34ED-BB3DBAE538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85800"/>
            <a:ext cx="9144000" cy="5287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b="1"/>
              <a:t>■ The learner is not told what actions to take, instead it finds out </a:t>
            </a:r>
            <a:r>
              <a:rPr lang="en-US" altLang="en-US"/>
              <a:t>what to do by trial-and-error search</a:t>
            </a:r>
          </a:p>
          <a:p>
            <a:pPr>
              <a:buFontTx/>
              <a:buNone/>
            </a:pPr>
            <a:r>
              <a:rPr lang="en-US" altLang="en-US" b="1"/>
              <a:t>■ The environment is stochastic (ie behavior is non-deterministic means a state </a:t>
            </a:r>
            <a:r>
              <a:rPr lang="en-US" altLang="en-US"/>
              <a:t>does not fully determine its next state).</a:t>
            </a:r>
          </a:p>
          <a:p>
            <a:pPr>
              <a:buFontTx/>
              <a:buNone/>
            </a:pPr>
            <a:r>
              <a:rPr lang="en-US" altLang="en-US" b="1"/>
              <a:t>■ The reward may be delayed, so the learner may need to sacrifice </a:t>
            </a:r>
            <a:r>
              <a:rPr lang="en-US" altLang="en-US"/>
              <a:t>short-term gains for greater long-term gains.</a:t>
            </a:r>
          </a:p>
          <a:p>
            <a:pPr>
              <a:buFontTx/>
              <a:buNone/>
            </a:pPr>
            <a:r>
              <a:rPr lang="en-US" altLang="en-US" b="1"/>
              <a:t>■ The learner has to balance the need to explore its environment and </a:t>
            </a:r>
            <a:r>
              <a:rPr lang="en-US" altLang="en-US"/>
              <a:t>the need to exploit its current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2FC888FE33A349B41D4CD90A81AD87" ma:contentTypeVersion="4" ma:contentTypeDescription="Create a new document." ma:contentTypeScope="" ma:versionID="b5f7efc47b52f4b913bd131a4df389df">
  <xsd:schema xmlns:xsd="http://www.w3.org/2001/XMLSchema" xmlns:xs="http://www.w3.org/2001/XMLSchema" xmlns:p="http://schemas.microsoft.com/office/2006/metadata/properties" xmlns:ns2="e4f7efb8-cb7e-43b6-9b90-b807d6450c17" targetNamespace="http://schemas.microsoft.com/office/2006/metadata/properties" ma:root="true" ma:fieldsID="2836af00a7e6d42234487084ab7110db" ns2:_="">
    <xsd:import namespace="e4f7efb8-cb7e-43b6-9b90-b807d6450c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f7efb8-cb7e-43b6-9b90-b807d6450c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2F6A1D-7151-456F-8522-58FB283566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f7efb8-cb7e-43b6-9b90-b807d6450c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547100-1F1D-41B2-866C-3187DF6A6B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2616</Words>
  <Application>Microsoft Office PowerPoint</Application>
  <PresentationFormat>On-screen Show (4:3)</PresentationFormat>
  <Paragraphs>345</Paragraphs>
  <Slides>53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Default Design</vt:lpstr>
      <vt:lpstr>Learning</vt:lpstr>
      <vt:lpstr>Outline</vt:lpstr>
      <vt:lpstr>Example: - classification</vt:lpstr>
      <vt:lpstr>Example: clustering</vt:lpstr>
      <vt:lpstr>Clusters converted  to images</vt:lpstr>
      <vt:lpstr>Final Result – validated cluster</vt:lpstr>
      <vt:lpstr>Learning Process</vt:lpstr>
      <vt:lpstr> Learning (Machine Learning) </vt:lpstr>
      <vt:lpstr>What is learning ?</vt:lpstr>
      <vt:lpstr>PowerPoint Presentation</vt:lpstr>
      <vt:lpstr>Learning</vt:lpstr>
      <vt:lpstr>Learning Agent</vt:lpstr>
      <vt:lpstr>Learning agents</vt:lpstr>
      <vt:lpstr>Components</vt:lpstr>
      <vt:lpstr>PowerPoint Presentation</vt:lpstr>
      <vt:lpstr>Learning element</vt:lpstr>
      <vt:lpstr>Inductive learning</vt:lpstr>
      <vt:lpstr>Inductive learning</vt:lpstr>
      <vt:lpstr>Inductive learning method</vt:lpstr>
      <vt:lpstr>Inductive learning method</vt:lpstr>
      <vt:lpstr>Inductive learning method</vt:lpstr>
      <vt:lpstr>Inductive learning method</vt:lpstr>
      <vt:lpstr>Inductive learning method</vt:lpstr>
      <vt:lpstr>Inductive learning method</vt:lpstr>
      <vt:lpstr>Decision trees</vt:lpstr>
      <vt:lpstr>Contd…</vt:lpstr>
      <vt:lpstr>Learning - decision trees</vt:lpstr>
      <vt:lpstr>Attribute-based representations</vt:lpstr>
      <vt:lpstr>Decision trees</vt:lpstr>
      <vt:lpstr>Expressiveness</vt:lpstr>
      <vt:lpstr>Some specific applications include </vt:lpstr>
      <vt:lpstr>Decision tree learning</vt:lpstr>
      <vt:lpstr>Choosing an attribute</vt:lpstr>
      <vt:lpstr>Using information theory</vt:lpstr>
      <vt:lpstr>Information gain</vt:lpstr>
      <vt:lpstr>Information gain</vt:lpstr>
      <vt:lpstr>Example contd.</vt:lpstr>
      <vt:lpstr>Summary</vt:lpstr>
      <vt:lpstr> Explanation Based Learning (EBL) </vt:lpstr>
      <vt:lpstr>PowerPoint Presentation</vt:lpstr>
      <vt:lpstr>EBL architecture</vt:lpstr>
      <vt:lpstr>EBL System Schematic</vt:lpstr>
      <vt:lpstr>PowerPoint Presentation</vt:lpstr>
      <vt:lpstr>Contd…</vt:lpstr>
      <vt:lpstr>Unsupervised learning</vt:lpstr>
      <vt:lpstr>Contd…</vt:lpstr>
      <vt:lpstr>Reinforcement learning</vt:lpstr>
      <vt:lpstr>Contd…</vt:lpstr>
      <vt:lpstr>Reinforcement Learning </vt:lpstr>
      <vt:lpstr>PowerPoint Presentation</vt:lpstr>
      <vt:lpstr>Agent - Environment interaction</vt:lpstr>
      <vt:lpstr>Contd…</vt:lpstr>
      <vt:lpstr>Key Features of RL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from Observations</dc:title>
  <dc:creator>Min-Yen Kan</dc:creator>
  <cp:lastModifiedBy>Pravin Shrinath (Dr.)</cp:lastModifiedBy>
  <cp:revision>59</cp:revision>
  <dcterms:created xsi:type="dcterms:W3CDTF">2003-12-24T06:34:20Z</dcterms:created>
  <dcterms:modified xsi:type="dcterms:W3CDTF">2025-04-04T07:11:06Z</dcterms:modified>
</cp:coreProperties>
</file>