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T Sans Narrow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34" Type="http://schemas.openxmlformats.org/officeDocument/2006/relationships/font" Target="fonts/OpenSans-italic.fntdata"/><Relationship Id="rId25" Type="http://schemas.openxmlformats.org/officeDocument/2006/relationships/slide" Target="slides/slide19.xml"/><Relationship Id="rId7" Type="http://schemas.openxmlformats.org/officeDocument/2006/relationships/slide" Target="slides/slide1.xml"/><Relationship Id="rId33" Type="http://schemas.openxmlformats.org/officeDocument/2006/relationships/font" Target="fonts/OpenSans-bold.fntdata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customXml" Target="../customXml/item3.xml"/><Relationship Id="rId20" Type="http://schemas.openxmlformats.org/officeDocument/2006/relationships/slide" Target="slides/slide14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24" Type="http://schemas.openxmlformats.org/officeDocument/2006/relationships/slide" Target="slides/slide18.xml"/><Relationship Id="rId1" Type="http://schemas.openxmlformats.org/officeDocument/2006/relationships/theme" Target="theme/theme3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font" Target="fonts/OpenSans-regular.fntdata"/><Relationship Id="rId37" Type="http://schemas.openxmlformats.org/officeDocument/2006/relationships/customXml" Target="../customXml/item2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36" Type="http://schemas.openxmlformats.org/officeDocument/2006/relationships/customXml" Target="../customXml/item1.xml"/><Relationship Id="rId31" Type="http://schemas.openxmlformats.org/officeDocument/2006/relationships/font" Target="fonts/PTSansNarrow-bold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7" Type="http://schemas.openxmlformats.org/officeDocument/2006/relationships/slide" Target="slides/slide21.xml"/><Relationship Id="rId30" Type="http://schemas.openxmlformats.org/officeDocument/2006/relationships/font" Target="fonts/PTSansNarrow-regular.fntdata"/><Relationship Id="rId35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3" Type="http://schemas.openxmlformats.org/officeDocument/2006/relationships/presProps" Target="presProps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ec6e3e681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ec6e3e681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ec6e3e681_0_1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ec6e3e681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ec6e3e681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ec6e3e681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ec6e3e681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ec6e3e681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ec6e3e681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ec6e3e681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dcc427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dcc427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ec6e3e681_0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ec6e3e681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ec6e3e681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ec6e3e681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ec6e3e681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ec6e3e681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ec6e3e681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5ec6e3e681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ec6e3e681_0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ec6e3e681_0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ec6e3e681_0_1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ec6e3e681_0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ec6e3e681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ec6e3e681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ec6e3e681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5ec6e3e681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ec6e3e681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5ec6e3e681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ec6e3e681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ec6e3e681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ec6e3e681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5ec6e3e681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ec6e3e681_0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ec6e3e681_0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ec6e3e681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ec6e3e681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5ec6e3e681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5ec6e3e681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ec6e3e681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ec6e3e681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ec6e3e681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ec6e3e681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ec6e3e681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ec6e3e681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0" name="Google Shape;70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71" name="Google Shape;71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3" name="Google Shape;73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74" name="Google Shape;74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6" name="Google Shape;76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1511302" y="1314454"/>
            <a:ext cx="61191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b="0" sz="33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1511300" y="2884538"/>
            <a:ext cx="61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500"/>
              </a:spcBef>
              <a:spcAft>
                <a:spcPts val="500"/>
              </a:spcAft>
              <a:buSzPts val="12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6508126" y="4476750"/>
            <a:ext cx="1200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971551" y="4476750"/>
            <a:ext cx="5479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7765426" y="4476750"/>
            <a:ext cx="407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6" name="Google Shape;126;p25"/>
          <p:cNvCxnSpPr/>
          <p:nvPr/>
        </p:nvCxnSpPr>
        <p:spPr>
          <a:xfrm>
            <a:off x="1509542" y="2782939"/>
            <a:ext cx="6122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  <a:defRPr b="1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6750425" y="4752075"/>
            <a:ext cx="19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Madhura Vyawahare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ctrTitle"/>
          </p:nvPr>
        </p:nvSpPr>
        <p:spPr>
          <a:xfrm>
            <a:off x="1004150" y="1262655"/>
            <a:ext cx="71367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Unit 4: Constraint Satisfaction Problems </a:t>
            </a:r>
            <a:endParaRPr sz="4000"/>
          </a:p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Madhura Vyawahare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986500"/>
            <a:ext cx="8520600" cy="37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Constraint satisfaction problems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Backtracking search for CSPs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Variables and value ordering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Propagating information through constraints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Intelligent backtracking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Local search for CSP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Case study on CSP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037700"/>
            <a:ext cx="85206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i="1" lang="en" sz="2000"/>
              <a:t>Constraint satisfaction is a technique where a problem is solved when its values satisfy certain constraints or rules of the problem.</a:t>
            </a:r>
            <a:r>
              <a:rPr lang="en" sz="2000"/>
              <a:t> 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Such type of technique leads to a deeper understanding of the problem structure as well as its complexity.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Constraint satisfaction depends on three components, namely:</a:t>
            </a:r>
            <a:endParaRPr sz="20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Variables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Domains: where the variables reside. There is a specific domain for each variable.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Constraints: which are followed by the set of variables.</a:t>
            </a:r>
            <a:endParaRPr sz="1600"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Variable is a </a:t>
            </a:r>
            <a:r>
              <a:rPr b="1" lang="en" sz="2000"/>
              <a:t>decision</a:t>
            </a:r>
            <a:r>
              <a:rPr lang="en" sz="2000"/>
              <a:t> that must be made and domain is the set of possible values that a variable can take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Constraint Satisfaction Problem: Formal Definition</a:t>
            </a:r>
            <a:endParaRPr sz="2940"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989275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CSP is defined by 3 components: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V: Finite set of variables = {v1,v2,v3,...vn}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D: Finite set of domains = {d1,d2,d3,....dn}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Each variable has a non empty domain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C: constrains: It specify allowable combination of variables assignment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Each constraint Ci involves some subset of the variables and specifies the allowable combinations of values for that subset.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Ci = (scope; relation)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Scope: set of variables that participate in constraint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Relations: values that a variable can take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Variables are v1 and v2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v1 is from domain A and v2 from domain B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Constraint is v1 and v2 can't be same.</a:t>
            </a:r>
            <a:endParaRPr sz="2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Ci = {(v1,v2), (v1!=v2)}</a:t>
            </a:r>
            <a:endParaRPr sz="2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Or</a:t>
            </a:r>
            <a:endParaRPr sz="2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Ci = {(v1,v2), (A,B)}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 Definition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Sudoku (81,(1 to 9), same row and same column should not repeat any number)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Node/</a:t>
            </a:r>
            <a:r>
              <a:rPr lang="en"/>
              <a:t>Graph</a:t>
            </a:r>
            <a:r>
              <a:rPr lang="en"/>
              <a:t> coloring problem: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(all nodes, colors, no neighbouring nodes should have same color)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CSP can be visualized as graph for simplicity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02700"/>
            <a:ext cx="8520600" cy="3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An assignment of values to a variable can be done in three ways: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Consistent or Legal Assignment:</a:t>
            </a:r>
            <a:r>
              <a:rPr lang="en" sz="1900"/>
              <a:t> An assignment which does not violate any constraint or rule is called Consistent or legal assignment.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Complete Assignment:</a:t>
            </a:r>
            <a:r>
              <a:rPr lang="en" sz="1900"/>
              <a:t> An assignment where every variable is assigned with a value. 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Partial Assignment: </a:t>
            </a:r>
            <a:r>
              <a:rPr lang="en" sz="1900"/>
              <a:t>An assignment which assigns values to some of the variables only. Such type of assignments are called Partial assignments.</a:t>
            </a:r>
            <a:endParaRPr sz="19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Solution to CSP is complete and Legal assignment of variables!</a:t>
            </a:r>
            <a:endParaRPr b="1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Domains in CSP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900"/>
              <a:t>There are following two types of domains which are used by the variables 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Discrete Domain: </a:t>
            </a:r>
            <a:r>
              <a:rPr lang="en" sz="1900"/>
              <a:t>countable set of possible values that a variable can take</a:t>
            </a:r>
            <a:endParaRPr sz="1900"/>
          </a:p>
          <a:p>
            <a:pPr indent="-336550" lvl="1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500">
                <a:highlight>
                  <a:srgbClr val="FFFFFF"/>
                </a:highlight>
              </a:rPr>
              <a:t>For example: consider a scheduling problem where you need to assign tasks to a set of workers. </a:t>
            </a:r>
            <a:endParaRPr sz="1500">
              <a:highlight>
                <a:srgbClr val="FFFFFF"/>
              </a:highlight>
            </a:endParaRPr>
          </a:p>
          <a:p>
            <a:pPr indent="-3365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500">
                <a:highlight>
                  <a:srgbClr val="FFFFFF"/>
                </a:highlight>
              </a:rPr>
              <a:t>Variables: the worker assignments for each task</a:t>
            </a:r>
            <a:endParaRPr sz="1500">
              <a:highlight>
                <a:srgbClr val="FFFFFF"/>
              </a:highlight>
            </a:endParaRPr>
          </a:p>
          <a:p>
            <a:pPr indent="-3365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500">
                <a:highlight>
                  <a:srgbClr val="FFFFFF"/>
                </a:highlight>
              </a:rPr>
              <a:t>domain: set of workers available to perform the task.</a:t>
            </a:r>
            <a:endParaRPr b="1" sz="1700"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highlight>
                  <a:srgbClr val="FFFFFF"/>
                </a:highlight>
              </a:rPr>
              <a:t>Continuous Domain</a:t>
            </a:r>
            <a:r>
              <a:rPr lang="en" sz="1900">
                <a:highlight>
                  <a:srgbClr val="FFFFFF"/>
                </a:highlight>
              </a:rPr>
              <a:t>: </a:t>
            </a:r>
            <a:r>
              <a:rPr lang="en" sz="1900"/>
              <a:t>set of real numbers that can take any value within a given range</a:t>
            </a:r>
            <a:endParaRPr sz="1900"/>
          </a:p>
          <a:p>
            <a:pPr indent="-323850" lvl="1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highlight>
                  <a:srgbClr val="FFFFFF"/>
                </a:highlight>
              </a:rPr>
              <a:t>Optimization problem where you need to find the minimum value of a function.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Types in CSP</a:t>
            </a:r>
            <a:endParaRPr/>
          </a:p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177875" y="741150"/>
            <a:ext cx="8752800" cy="4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700"/>
              <a:t>Constraint Types in CSP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700"/>
              <a:t>With respect to the variables, basically there are following types of constraints: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Unary Constraints:</a:t>
            </a:r>
            <a:r>
              <a:rPr lang="en" sz="1700"/>
              <a:t> It is the simplest type of constraints that restricts the value of a single variable.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Binary Constraints:</a:t>
            </a:r>
            <a:r>
              <a:rPr lang="en" sz="1700"/>
              <a:t> It is the constraint type which relates two variables. A value </a:t>
            </a:r>
            <a:r>
              <a:rPr b="1" lang="en" sz="1700"/>
              <a:t>x2</a:t>
            </a:r>
            <a:r>
              <a:rPr lang="en" sz="1700"/>
              <a:t> is not equal to </a:t>
            </a:r>
            <a:r>
              <a:rPr b="1" lang="en" sz="1700"/>
              <a:t>x1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Local Constraints: </a:t>
            </a:r>
            <a:r>
              <a:rPr lang="en" sz="1700"/>
              <a:t>Applicable to single or pair of variables. </a:t>
            </a:r>
            <a:r>
              <a:rPr lang="en" sz="1700"/>
              <a:t>A value </a:t>
            </a:r>
            <a:r>
              <a:rPr b="1" lang="en" sz="1700"/>
              <a:t>x2</a:t>
            </a:r>
            <a:r>
              <a:rPr lang="en" sz="1700"/>
              <a:t> is not  </a:t>
            </a:r>
            <a:r>
              <a:rPr b="1" lang="en" sz="1700"/>
              <a:t>x1</a:t>
            </a:r>
            <a:r>
              <a:rPr lang="en" sz="1700"/>
              <a:t> and </a:t>
            </a:r>
            <a:r>
              <a:rPr b="1" lang="en" sz="1700"/>
              <a:t>x3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Global Constraints:</a:t>
            </a:r>
            <a:r>
              <a:rPr lang="en" sz="1700"/>
              <a:t> It is the constraint type which involves an </a:t>
            </a:r>
            <a:r>
              <a:rPr b="1" lang="en" sz="1700"/>
              <a:t>arbitrary number</a:t>
            </a:r>
            <a:r>
              <a:rPr lang="en" sz="1700"/>
              <a:t> of variables.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Linear Constraints:</a:t>
            </a:r>
            <a:r>
              <a:rPr lang="en" sz="1700"/>
              <a:t> These type of constraints are commonly used in linear programming where each variable containing an integer value exists in linear form o</a:t>
            </a:r>
            <a:r>
              <a:rPr lang="en" sz="1700"/>
              <a:t>nly. X + 2Y - 3Z = 10.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Non-linear Constraints:</a:t>
            </a:r>
            <a:r>
              <a:rPr lang="en" sz="1700"/>
              <a:t> These type of constraints are used in non-linear programming where each variable (an integer value) exists in a non-linear for</a:t>
            </a:r>
            <a:r>
              <a:rPr lang="en" sz="1700"/>
              <a:t>m. X^2 + Y^2 = 25.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11700" y="809125"/>
            <a:ext cx="8520600" cy="3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state of the problem is defined by an assignment of values to some or all of the variables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Legal / consistent Assignment: does not violate any constraint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Complete assignment: every variable is mentioned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Solution to CSP: complete assignment that satisfies all the constraints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Some CSPs also require a solution that maximizes an objective function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CSP uses intelligent Backtracking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Propagation</a:t>
            </a:r>
            <a:endParaRPr/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311700" y="771425"/>
            <a:ext cx="8520600" cy="4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/>
              <a:t>In local state-spaces, the choice is only one, i.e., to search for a solution. </a:t>
            </a:r>
            <a:endParaRPr sz="19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900"/>
              <a:t>But in local search for CSP, we have two choices either: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We can search for a solution or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>
                <a:highlight>
                  <a:srgbClr val="FFFFFF"/>
                </a:highlight>
              </a:rPr>
              <a:t>We can perform a special type of inference called </a:t>
            </a:r>
            <a:r>
              <a:rPr b="1" lang="en" sz="1900">
                <a:highlight>
                  <a:srgbClr val="FFFFFF"/>
                </a:highlight>
              </a:rPr>
              <a:t>constraint propagation</a:t>
            </a:r>
            <a:r>
              <a:rPr lang="en" sz="1900">
                <a:highlight>
                  <a:srgbClr val="FFFFFF"/>
                </a:highlight>
              </a:rPr>
              <a:t>.</a:t>
            </a:r>
            <a:endParaRPr sz="1900"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FFFFFF"/>
                </a:highlight>
              </a:rPr>
              <a:t>Constraint propagation is a fundamental technique used in Constraint Satisfaction Problems (CSPs) to reduce the search space and improve the efficiency of solving such problems. 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FFFFFF"/>
                </a:highlight>
              </a:rPr>
              <a:t>It involves the application of constraints to prune or eliminate possible values for variables based on the information available in the problem.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FFFFFF"/>
                </a:highlight>
              </a:rPr>
              <a:t>Constraint propagation is assigning the value to variable in such a way that it satisfies some constraint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FFFFFF"/>
                </a:highlight>
              </a:rPr>
              <a:t>Use the information contained in the constraints to </a:t>
            </a:r>
            <a:r>
              <a:rPr b="1" lang="en" sz="1400">
                <a:highlight>
                  <a:srgbClr val="FFFFFF"/>
                </a:highlight>
              </a:rPr>
              <a:t>eliminate values</a:t>
            </a:r>
            <a:r>
              <a:rPr lang="en" sz="1400">
                <a:highlight>
                  <a:srgbClr val="FFFFFF"/>
                </a:highlight>
              </a:rPr>
              <a:t> that cannot possibly be part of a solution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rgbClr val="FFFFFF"/>
                </a:highlight>
              </a:rPr>
              <a:t>This process helps to prune the search space by reducing the number of possibilities that need to be considered, and can often lead to a faster solution.</a:t>
            </a:r>
            <a:endParaRPr sz="14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64025"/>
            <a:ext cx="85206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Constraint Propagation</a:t>
            </a:r>
            <a:endParaRPr sz="2840"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755950"/>
            <a:ext cx="8520600" cy="42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b="1" lang="en" sz="1600">
                <a:highlight>
                  <a:srgbClr val="FFFFFF"/>
                </a:highlight>
              </a:rPr>
              <a:t>Forward Checking</a:t>
            </a:r>
            <a:r>
              <a:rPr lang="en" sz="1600">
                <a:highlight>
                  <a:srgbClr val="FFFFFF"/>
                </a:highlight>
              </a:rPr>
              <a:t>: This technique </a:t>
            </a:r>
            <a:r>
              <a:rPr b="1" lang="en" sz="1600">
                <a:highlight>
                  <a:srgbClr val="FFFFFF"/>
                </a:highlight>
              </a:rPr>
              <a:t>checks each constraint </a:t>
            </a:r>
            <a:r>
              <a:rPr lang="en" sz="1600">
                <a:highlight>
                  <a:srgbClr val="FFFFFF"/>
                </a:highlight>
              </a:rPr>
              <a:t>as it is added to the CSP and eliminates values from the domains of other variables that are inconsistent with the constraint.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b="1" lang="en" sz="1600">
                <a:highlight>
                  <a:srgbClr val="FFFFFF"/>
                </a:highlight>
              </a:rPr>
              <a:t>Arc Consistency</a:t>
            </a:r>
            <a:r>
              <a:rPr lang="en" sz="1600">
                <a:highlight>
                  <a:srgbClr val="FFFFFF"/>
                </a:highlight>
              </a:rPr>
              <a:t>: This technique checks for </a:t>
            </a:r>
            <a:r>
              <a:rPr b="1" lang="en" sz="1600">
                <a:highlight>
                  <a:srgbClr val="FFFFFF"/>
                </a:highlight>
              </a:rPr>
              <a:t>consistency between every pair of variables</a:t>
            </a:r>
            <a:r>
              <a:rPr lang="en" sz="1600">
                <a:highlight>
                  <a:srgbClr val="FFFFFF"/>
                </a:highlight>
              </a:rPr>
              <a:t> in the CSP and eliminates values from the domains of variables that are inconsistent with the constraints. Uses Queue mostly. Example: Variables are A, B, C. Start with A and B or A and C or B and C.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b="1" lang="en" sz="1600">
                <a:highlight>
                  <a:srgbClr val="FFFFFF"/>
                </a:highlight>
              </a:rPr>
              <a:t>Domain Splitting</a:t>
            </a:r>
            <a:r>
              <a:rPr lang="en" sz="1600">
                <a:highlight>
                  <a:srgbClr val="FFFFFF"/>
                </a:highlight>
              </a:rPr>
              <a:t>: This technique </a:t>
            </a:r>
            <a:r>
              <a:rPr b="1" lang="en" sz="1600">
                <a:highlight>
                  <a:srgbClr val="FFFFFF"/>
                </a:highlight>
              </a:rPr>
              <a:t>splits the domain of a variable</a:t>
            </a:r>
            <a:r>
              <a:rPr lang="en" sz="1600">
                <a:highlight>
                  <a:srgbClr val="FFFFFF"/>
                </a:highlight>
              </a:rPr>
              <a:t> into multiple sub-domains and assigns each sub-domain to a different branch in the search tree</a:t>
            </a:r>
            <a:r>
              <a:rPr lang="en" sz="1600">
                <a:highlight>
                  <a:srgbClr val="FFFFFF"/>
                </a:highlight>
              </a:rPr>
              <a:t>. Example: Domain of A: {1, 2, 3, 4, 5, 6, 7, 8, 9}. Split: {1,3,5,7,9}{2,4,6,8} or {1,2,3,4,5}{6,7,8,9} or </a:t>
            </a:r>
            <a:r>
              <a:rPr lang="en" sz="1600">
                <a:highlight>
                  <a:schemeClr val="lt1"/>
                </a:highlight>
              </a:rPr>
              <a:t>{1, 2, 3}{4, 5, 6, 7, 8, 9}.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b="1" lang="en" sz="1600">
                <a:highlight>
                  <a:srgbClr val="FFFFFF"/>
                </a:highlight>
              </a:rPr>
              <a:t>Domain Filtering</a:t>
            </a:r>
            <a:r>
              <a:rPr lang="en" sz="1600">
                <a:highlight>
                  <a:srgbClr val="FFFFFF"/>
                </a:highlight>
              </a:rPr>
              <a:t>: This technique eliminates values from the domain of a variable that do not satisfy a particular constrain</a:t>
            </a:r>
            <a:r>
              <a:rPr lang="en" sz="1600">
                <a:highlight>
                  <a:srgbClr val="FFFFFF"/>
                </a:highlight>
              </a:rPr>
              <a:t>t. It is often applied as part of the initial preprocessing or during the CSP-solving process to make the problem more manageable. Example: X+Y&lt;6</a:t>
            </a:r>
            <a:endParaRPr sz="16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Propagation</a:t>
            </a:r>
            <a:endParaRPr/>
          </a:p>
        </p:txBody>
      </p:sp>
      <p:sp>
        <p:nvSpPr>
          <p:cNvPr id="204" name="Google Shape;204;p3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It can be an effective technique for reducing the search space in a CSP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It can also be time-consuming and may not always lead to a solution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It may be necessary to use a combination of constraint propagation and other search techniques, such as </a:t>
            </a:r>
            <a:r>
              <a:rPr b="1" lang="en">
                <a:highlight>
                  <a:srgbClr val="FFFFFF"/>
                </a:highlight>
              </a:rPr>
              <a:t>backtracking</a:t>
            </a:r>
            <a:r>
              <a:rPr lang="en">
                <a:highlight>
                  <a:srgbClr val="FFFFFF"/>
                </a:highlight>
              </a:rPr>
              <a:t>, to find a solution to a CSP.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 Definition</a:t>
            </a:r>
            <a:endParaRPr/>
          </a:p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Sudoku (81,(1 to 9), same row and same column should not repeat any number)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coloring problem: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(all nodes, colors, no neighbouring nodes should have same color)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CSP can be visualized as graph for simplicity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375"/>
            <a:ext cx="9144000" cy="4458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600" y="239099"/>
            <a:ext cx="8422801" cy="42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0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3"/>
          <p:cNvPicPr preferRelativeResize="0"/>
          <p:nvPr/>
        </p:nvPicPr>
        <p:blipFill rotWithShape="1">
          <a:blip r:embed="rId3">
            <a:alphaModFix/>
          </a:blip>
          <a:srcRect b="14244" l="0" r="0" t="0"/>
          <a:stretch/>
        </p:blipFill>
        <p:spPr>
          <a:xfrm>
            <a:off x="814813" y="66688"/>
            <a:ext cx="7514376" cy="483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 Arithmetic Problem</a:t>
            </a:r>
            <a:endParaRPr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 arithmetic Problem is a type of constraint satisfaction problem where the game is about digits and its unique replacement either with alphabets or other symbols. 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 </a:t>
            </a:r>
            <a:r>
              <a:rPr b="1" lang="en"/>
              <a:t>crypt arithmetic problem,</a:t>
            </a:r>
            <a:r>
              <a:rPr lang="en"/>
              <a:t> the digits (0-9) get substituted by some possible alphabets or symbols. 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task in cryptarithmetic problem is to substitute each digit with an alphabet to get the result arithmetically correct.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 Arithmetic Problem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311700" y="929500"/>
            <a:ext cx="8520600" cy="4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/>
              <a:t>The rules or constraints on a cryptarithmetic problem are as follows: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Digits should be from </a:t>
            </a:r>
            <a:r>
              <a:rPr b="1" lang="en" sz="2000"/>
              <a:t>0-9</a:t>
            </a:r>
            <a:r>
              <a:rPr lang="en" sz="2000"/>
              <a:t> only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One letter should have one value only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 two letters can have same value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There should be a unique digit to be replaced with a unique alphabet.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Sum of arithmetic values should satisfy the sum of words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result should satisfy the predefined arithmetic rules, i.e., 2+2 =4, nothing else.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There should be only one carry forward, while performing the addition operation on a problem.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problem can be solved from both sides, i.e., </a:t>
            </a:r>
            <a:r>
              <a:rPr b="1" lang="en" sz="2000"/>
              <a:t>left hand side (L.H.S), or right hand side (R.H.S)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 Arithmetic Problem</a:t>
            </a:r>
            <a:endParaRPr/>
          </a:p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Problems: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TO+GO = OUT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 + MORE = MONEY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YOUR+YOU=HEART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CROSS + ROAD = DANGER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4843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TO+DO=OUT 21+81=102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YOUR+YOU= HEART 9426+942=10368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SEND+MORE=MONEY 9567+1085= 10652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CROSS+ROADS=DANGER 96233+62513=158746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2FC888FE33A349B41D4CD90A81AD87" ma:contentTypeVersion="4" ma:contentTypeDescription="Create a new document." ma:contentTypeScope="" ma:versionID="b5f7efc47b52f4b913bd131a4df389df">
  <xsd:schema xmlns:xsd="http://www.w3.org/2001/XMLSchema" xmlns:xs="http://www.w3.org/2001/XMLSchema" xmlns:p="http://schemas.microsoft.com/office/2006/metadata/properties" xmlns:ns2="e4f7efb8-cb7e-43b6-9b90-b807d6450c17" targetNamespace="http://schemas.microsoft.com/office/2006/metadata/properties" ma:root="true" ma:fieldsID="2836af00a7e6d42234487084ab7110db" ns2:_="">
    <xsd:import namespace="e4f7efb8-cb7e-43b6-9b90-b807d6450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7efb8-cb7e-43b6-9b90-b807d6450c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D278AE-080B-470C-BD24-ECF92F0784B3}"/>
</file>

<file path=customXml/itemProps2.xml><?xml version="1.0" encoding="utf-8"?>
<ds:datastoreItem xmlns:ds="http://schemas.openxmlformats.org/officeDocument/2006/customXml" ds:itemID="{CDDC8002-B6B2-4FC3-ACF0-A97882086A11}"/>
</file>

<file path=customXml/itemProps3.xml><?xml version="1.0" encoding="utf-8"?>
<ds:datastoreItem xmlns:ds="http://schemas.openxmlformats.org/officeDocument/2006/customXml" ds:itemID="{A384517A-6079-46C1-80AB-3C42FC6802A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0x010100B22FC888FE33A349B41D4CD90A81AD87</vt:lpwstr>
  </property>
</Properties>
</file>