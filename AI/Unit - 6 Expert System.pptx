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93" r:id="rId37"/>
    <p:sldId id="290" r:id="rId38"/>
    <p:sldId id="291" r:id="rId39"/>
    <p:sldId id="292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1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1DDF-2B76-4329-9AF5-788811CB96D6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19B40-7670-4529-B761-01B47C4392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1DDF-2B76-4329-9AF5-788811CB96D6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19B40-7670-4529-B761-01B47C4392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1DDF-2B76-4329-9AF5-788811CB96D6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19B40-7670-4529-B761-01B47C4392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1DDF-2B76-4329-9AF5-788811CB96D6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19B40-7670-4529-B761-01B47C4392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1DDF-2B76-4329-9AF5-788811CB96D6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19B40-7670-4529-B761-01B47C4392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1DDF-2B76-4329-9AF5-788811CB96D6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19B40-7670-4529-B761-01B47C4392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1DDF-2B76-4329-9AF5-788811CB96D6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19B40-7670-4529-B761-01B47C4392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1DDF-2B76-4329-9AF5-788811CB96D6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19B40-7670-4529-B761-01B47C4392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1DDF-2B76-4329-9AF5-788811CB96D6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19B40-7670-4529-B761-01B47C4392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1DDF-2B76-4329-9AF5-788811CB96D6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19B40-7670-4529-B761-01B47C4392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1DDF-2B76-4329-9AF5-788811CB96D6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19B40-7670-4529-B761-01B47C4392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81DDF-2B76-4329-9AF5-788811CB96D6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819B40-7670-4529-B761-01B47C43925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Expert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UNIT-6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 smtClean="0"/>
              <a:t>outline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Introduction</a:t>
            </a:r>
          </a:p>
          <a:p>
            <a:r>
              <a:rPr lang="en-US" b="1" dirty="0" smtClean="0"/>
              <a:t>Knowledge </a:t>
            </a:r>
            <a:r>
              <a:rPr lang="en-US" b="1" dirty="0"/>
              <a:t>Acquisition</a:t>
            </a:r>
          </a:p>
          <a:p>
            <a:r>
              <a:rPr lang="en-US" b="1" dirty="0" smtClean="0"/>
              <a:t>Knowledge Base</a:t>
            </a:r>
            <a:endParaRPr lang="en-US" b="1" dirty="0"/>
          </a:p>
          <a:p>
            <a:r>
              <a:rPr lang="en-US" b="1" dirty="0" smtClean="0"/>
              <a:t>Working </a:t>
            </a:r>
            <a:r>
              <a:rPr lang="en-US" b="1" dirty="0"/>
              <a:t>Memory </a:t>
            </a:r>
          </a:p>
          <a:p>
            <a:r>
              <a:rPr lang="en-US" b="1" dirty="0" smtClean="0"/>
              <a:t>Inference </a:t>
            </a:r>
            <a:r>
              <a:rPr lang="en-US" b="1" dirty="0"/>
              <a:t>Engine</a:t>
            </a:r>
          </a:p>
          <a:p>
            <a:r>
              <a:rPr lang="en-US" b="1" dirty="0" smtClean="0"/>
              <a:t>Expert </a:t>
            </a:r>
            <a:r>
              <a:rPr lang="en-US" b="1" dirty="0"/>
              <a:t>System Shells</a:t>
            </a:r>
          </a:p>
          <a:p>
            <a:r>
              <a:rPr lang="en-US" b="1" dirty="0" smtClean="0"/>
              <a:t>Application </a:t>
            </a:r>
            <a:r>
              <a:rPr lang="en-US" b="1" dirty="0"/>
              <a:t>of Expert systems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92162"/>
          </a:xfrm>
        </p:spPr>
        <p:txBody>
          <a:bodyPr/>
          <a:lstStyle/>
          <a:p>
            <a:r>
              <a:rPr lang="en-US" dirty="0"/>
              <a:t>I</a:t>
            </a:r>
            <a:r>
              <a:rPr lang="en-US" dirty="0" smtClean="0"/>
              <a:t>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534400" cy="5791200"/>
          </a:xfrm>
        </p:spPr>
        <p:txBody>
          <a:bodyPr>
            <a:normAutofit/>
          </a:bodyPr>
          <a:lstStyle/>
          <a:p>
            <a:r>
              <a:rPr lang="en-US" dirty="0"/>
              <a:t>An expert system is an interactive computer-based decision tool that</a:t>
            </a:r>
          </a:p>
          <a:p>
            <a:r>
              <a:rPr lang="en-US" dirty="0"/>
              <a:t>uses both facts and heuristics to solve difficult decision problems, based</a:t>
            </a:r>
          </a:p>
          <a:p>
            <a:r>
              <a:rPr lang="en-US" dirty="0"/>
              <a:t>on knowledge acquired from an expert.</a:t>
            </a:r>
          </a:p>
          <a:p>
            <a:r>
              <a:rPr lang="en-US" b="1" dirty="0" smtClean="0"/>
              <a:t>A </a:t>
            </a:r>
            <a:r>
              <a:rPr lang="en-US" b="1" dirty="0"/>
              <a:t>model and associated procedure that exhibits, within a specific</a:t>
            </a:r>
          </a:p>
          <a:p>
            <a:r>
              <a:rPr lang="en-US" dirty="0"/>
              <a:t>domain, a degree of expertise in problem solving that is comparable </a:t>
            </a:r>
            <a:r>
              <a:rPr lang="en-US" dirty="0" smtClean="0"/>
              <a:t>to that </a:t>
            </a:r>
            <a:r>
              <a:rPr lang="en-US" dirty="0"/>
              <a:t>of a human expert.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Inference engine + Knowledge = Expert system</a:t>
            </a:r>
          </a:p>
          <a:p>
            <a:r>
              <a:rPr lang="en-US" dirty="0"/>
              <a:t>( Algorithm + Data structures = Program in traditional computer )</a:t>
            </a:r>
          </a:p>
          <a:p>
            <a:r>
              <a:rPr lang="en-US" b="1" dirty="0" smtClean="0"/>
              <a:t>First </a:t>
            </a:r>
            <a:r>
              <a:rPr lang="en-US" b="1" dirty="0"/>
              <a:t>expert system, called DENDRAL, in the early 70's was </a:t>
            </a:r>
            <a:r>
              <a:rPr lang="en-US" b="1" dirty="0" smtClean="0"/>
              <a:t>developed </a:t>
            </a:r>
            <a:r>
              <a:rPr lang="en-US" dirty="0" smtClean="0"/>
              <a:t>by </a:t>
            </a:r>
            <a:r>
              <a:rPr lang="en-US" dirty="0"/>
              <a:t>Stanford University.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Expert </a:t>
            </a:r>
            <a:r>
              <a:rPr lang="en-US" b="1" dirty="0"/>
              <a:t>system components and human interfaces</a:t>
            </a:r>
          </a:p>
          <a:p>
            <a:r>
              <a:rPr lang="en-US" dirty="0"/>
              <a:t>Expert systems have a number of major system components </a:t>
            </a:r>
            <a:r>
              <a:rPr lang="en-US" dirty="0" smtClean="0"/>
              <a:t>and interface </a:t>
            </a:r>
            <a:r>
              <a:rPr lang="en-US" dirty="0"/>
              <a:t>with individuals in various roles. These are illustrated below.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E:\Thesis images\bad images\2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04800"/>
            <a:ext cx="8534400" cy="6248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>
            <a:normAutofit/>
          </a:bodyPr>
          <a:lstStyle/>
          <a:p>
            <a:r>
              <a:rPr lang="en-US" b="1" dirty="0"/>
              <a:t>Components and Interfaces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562600"/>
          </a:xfrm>
        </p:spPr>
        <p:txBody>
          <a:bodyPr>
            <a:normAutofit/>
          </a:bodyPr>
          <a:lstStyle/>
          <a:p>
            <a:r>
              <a:rPr lang="en-US" b="1" dirty="0"/>
              <a:t>Knowledge base : a declarative representation of the expertise; </a:t>
            </a:r>
            <a:r>
              <a:rPr lang="en-US" b="1" dirty="0" smtClean="0"/>
              <a:t>often </a:t>
            </a:r>
            <a:r>
              <a:rPr lang="en-US" dirty="0" smtClean="0"/>
              <a:t>IF </a:t>
            </a:r>
            <a:r>
              <a:rPr lang="en-US" dirty="0"/>
              <a:t>THEN rules;</a:t>
            </a:r>
          </a:p>
          <a:p>
            <a:r>
              <a:rPr lang="en-US" b="1" dirty="0" smtClean="0"/>
              <a:t>Working </a:t>
            </a:r>
            <a:r>
              <a:rPr lang="en-US" b="1" dirty="0"/>
              <a:t>storage : the data; specific to a problem being solved;</a:t>
            </a:r>
          </a:p>
          <a:p>
            <a:r>
              <a:rPr lang="en-US" b="1" dirty="0" smtClean="0"/>
              <a:t>Inference </a:t>
            </a:r>
            <a:r>
              <a:rPr lang="en-US" b="1" dirty="0"/>
              <a:t>engine : the code at the core of the system; </a:t>
            </a:r>
            <a:r>
              <a:rPr lang="en-US" b="1" dirty="0" smtClean="0"/>
              <a:t>derives </a:t>
            </a:r>
            <a:r>
              <a:rPr lang="en-US" dirty="0" smtClean="0"/>
              <a:t>recommendations </a:t>
            </a:r>
            <a:r>
              <a:rPr lang="en-US" dirty="0"/>
              <a:t>from the knowledge base and problem-specific data </a:t>
            </a:r>
            <a:r>
              <a:rPr lang="en-US" dirty="0" smtClean="0"/>
              <a:t>in working </a:t>
            </a:r>
            <a:r>
              <a:rPr lang="en-US" dirty="0"/>
              <a:t>storage;</a:t>
            </a:r>
          </a:p>
          <a:p>
            <a:r>
              <a:rPr lang="en-US" b="1" dirty="0" smtClean="0"/>
              <a:t>User </a:t>
            </a:r>
            <a:r>
              <a:rPr lang="en-US" b="1" dirty="0"/>
              <a:t>interface : the code that controls the dialog between the user </a:t>
            </a:r>
            <a:r>
              <a:rPr lang="en-US" b="1" dirty="0" smtClean="0"/>
              <a:t>and </a:t>
            </a:r>
            <a:r>
              <a:rPr lang="en-US" dirty="0" smtClean="0"/>
              <a:t>the </a:t>
            </a:r>
            <a:r>
              <a:rPr lang="en-US" dirty="0"/>
              <a:t>system.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Roles of individuals who interact with the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05800" cy="5562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Domain expert </a:t>
            </a:r>
            <a:r>
              <a:rPr lang="en-US" b="1" dirty="0"/>
              <a:t>: the individuals who currently are experts solving </a:t>
            </a:r>
            <a:r>
              <a:rPr lang="en-US" b="1" dirty="0" smtClean="0"/>
              <a:t>the </a:t>
            </a:r>
            <a:r>
              <a:rPr lang="en-US" dirty="0" smtClean="0"/>
              <a:t>problems</a:t>
            </a:r>
            <a:r>
              <a:rPr lang="en-US" dirty="0"/>
              <a:t>, here the system is intended to solve;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Knowledge </a:t>
            </a:r>
            <a:r>
              <a:rPr lang="en-US" b="1" dirty="0">
                <a:solidFill>
                  <a:srgbClr val="FF0000"/>
                </a:solidFill>
              </a:rPr>
              <a:t>engineer </a:t>
            </a:r>
            <a:r>
              <a:rPr lang="en-US" b="1" dirty="0"/>
              <a:t>: the individual who encodes the </a:t>
            </a:r>
            <a:r>
              <a:rPr lang="en-US" b="1" dirty="0" smtClean="0"/>
              <a:t>expert's </a:t>
            </a:r>
            <a:r>
              <a:rPr lang="en-US" dirty="0" smtClean="0"/>
              <a:t>knowledge </a:t>
            </a:r>
            <a:r>
              <a:rPr lang="en-US" dirty="0"/>
              <a:t>in a declarative form that can be used by the expert system;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User</a:t>
            </a:r>
            <a:r>
              <a:rPr lang="en-US" b="1" dirty="0" smtClean="0"/>
              <a:t> </a:t>
            </a:r>
            <a:r>
              <a:rPr lang="en-US" b="1" dirty="0"/>
              <a:t>: the individual who will be consulting with the system to get </a:t>
            </a:r>
            <a:r>
              <a:rPr lang="en-US" b="1" dirty="0" smtClean="0"/>
              <a:t>advice </a:t>
            </a:r>
            <a:r>
              <a:rPr lang="en-US" dirty="0" smtClean="0"/>
              <a:t>which </a:t>
            </a:r>
            <a:r>
              <a:rPr lang="en-US" dirty="0"/>
              <a:t>would have been provided by the expert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b="1" dirty="0"/>
              <a:t>Expert system shells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305800" cy="5181600"/>
          </a:xfrm>
        </p:spPr>
        <p:txBody>
          <a:bodyPr>
            <a:normAutofit/>
          </a:bodyPr>
          <a:lstStyle/>
          <a:p>
            <a:r>
              <a:rPr lang="en-US" sz="3600" dirty="0"/>
              <a:t>Many expert systems are built with products called expert </a:t>
            </a:r>
            <a:r>
              <a:rPr lang="en-US" sz="3600" dirty="0" smtClean="0"/>
              <a:t>system shells</a:t>
            </a:r>
            <a:r>
              <a:rPr lang="en-US" sz="3600" dirty="0"/>
              <a:t>. The shell is a piece of software which contains the </a:t>
            </a:r>
            <a:endParaRPr lang="en-US" sz="3600" dirty="0" smtClean="0"/>
          </a:p>
          <a:p>
            <a:pPr lvl="1"/>
            <a:r>
              <a:rPr lang="en-US" sz="3200" dirty="0" smtClean="0"/>
              <a:t>User interface</a:t>
            </a:r>
            <a:r>
              <a:rPr lang="en-US" sz="3200" dirty="0"/>
              <a:t>, </a:t>
            </a:r>
            <a:endParaRPr lang="en-US" sz="3200" dirty="0" smtClean="0"/>
          </a:p>
          <a:p>
            <a:pPr lvl="1"/>
            <a:r>
              <a:rPr lang="en-US" sz="3200" dirty="0" smtClean="0"/>
              <a:t>A </a:t>
            </a:r>
            <a:r>
              <a:rPr lang="en-US" sz="3200" dirty="0"/>
              <a:t>format for declarative knowledge in the knowledge base,</a:t>
            </a:r>
          </a:p>
          <a:p>
            <a:pPr lvl="1"/>
            <a:r>
              <a:rPr lang="en-US" sz="3200" dirty="0" smtClean="0"/>
              <a:t>An </a:t>
            </a:r>
            <a:r>
              <a:rPr lang="en-US" sz="3200" dirty="0"/>
              <a:t>inference engine.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534400" cy="5410200"/>
          </a:xfrm>
        </p:spPr>
        <p:txBody>
          <a:bodyPr>
            <a:normAutofit fontScale="92500" lnSpcReduction="10000"/>
          </a:bodyPr>
          <a:lstStyle/>
          <a:p>
            <a:r>
              <a:rPr lang="en-US" sz="3900" b="1" dirty="0">
                <a:solidFill>
                  <a:srgbClr val="FF0000"/>
                </a:solidFill>
              </a:rPr>
              <a:t>Knowledge engineer </a:t>
            </a:r>
            <a:r>
              <a:rPr lang="en-US" sz="3900" b="1" dirty="0"/>
              <a:t>: uses the shell to build a system for a </a:t>
            </a:r>
            <a:r>
              <a:rPr lang="en-US" sz="3900" b="1" dirty="0" smtClean="0"/>
              <a:t>particular </a:t>
            </a:r>
            <a:r>
              <a:rPr lang="en-US" sz="3900" dirty="0" smtClean="0"/>
              <a:t>problem </a:t>
            </a:r>
            <a:r>
              <a:rPr lang="en-US" sz="3900" dirty="0"/>
              <a:t>domain.</a:t>
            </a:r>
          </a:p>
          <a:p>
            <a:r>
              <a:rPr lang="en-US" sz="3900" b="1" dirty="0" smtClean="0">
                <a:solidFill>
                  <a:srgbClr val="FF0000"/>
                </a:solidFill>
              </a:rPr>
              <a:t>System </a:t>
            </a:r>
            <a:r>
              <a:rPr lang="en-US" sz="3900" b="1" dirty="0">
                <a:solidFill>
                  <a:srgbClr val="FF0000"/>
                </a:solidFill>
              </a:rPr>
              <a:t>engineer </a:t>
            </a:r>
            <a:r>
              <a:rPr lang="en-US" sz="3900" b="1" dirty="0"/>
              <a:t>: the individual who builds the user interface, </a:t>
            </a:r>
            <a:r>
              <a:rPr lang="en-US" sz="3900" b="1" dirty="0" smtClean="0"/>
              <a:t>designs </a:t>
            </a:r>
            <a:r>
              <a:rPr lang="en-US" sz="3900" dirty="0" smtClean="0"/>
              <a:t>the </a:t>
            </a:r>
            <a:r>
              <a:rPr lang="en-US" sz="3900" dirty="0"/>
              <a:t>declarative format of the knowledge base, and implements </a:t>
            </a:r>
            <a:r>
              <a:rPr lang="en-US" sz="3900" dirty="0" smtClean="0"/>
              <a:t>the inference </a:t>
            </a:r>
            <a:r>
              <a:rPr lang="en-US" sz="3900" dirty="0"/>
              <a:t>engine.</a:t>
            </a:r>
          </a:p>
          <a:p>
            <a:r>
              <a:rPr lang="en-US" sz="3900" dirty="0" smtClean="0"/>
              <a:t>Depending </a:t>
            </a:r>
            <a:r>
              <a:rPr lang="en-US" sz="3900" dirty="0"/>
              <a:t>on the size of the system, the </a:t>
            </a:r>
            <a:r>
              <a:rPr lang="en-US" sz="3900" dirty="0">
                <a:solidFill>
                  <a:srgbClr val="FF0000"/>
                </a:solidFill>
              </a:rPr>
              <a:t>knowledge engineer </a:t>
            </a:r>
            <a:r>
              <a:rPr lang="en-US" sz="3900" dirty="0"/>
              <a:t>and </a:t>
            </a:r>
            <a:r>
              <a:rPr lang="en-US" sz="3900" dirty="0" smtClean="0"/>
              <a:t>the </a:t>
            </a:r>
            <a:r>
              <a:rPr lang="en-US" sz="3900" dirty="0" smtClean="0">
                <a:solidFill>
                  <a:srgbClr val="FF0000"/>
                </a:solidFill>
              </a:rPr>
              <a:t>system </a:t>
            </a:r>
            <a:r>
              <a:rPr lang="en-US" sz="3900" dirty="0">
                <a:solidFill>
                  <a:srgbClr val="FF0000"/>
                </a:solidFill>
              </a:rPr>
              <a:t>engineer</a:t>
            </a:r>
            <a:r>
              <a:rPr lang="en-US" sz="3900" dirty="0"/>
              <a:t> might be the same person.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Expert system Characteristics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Operates as an interactive system </a:t>
            </a:r>
            <a:r>
              <a:rPr lang="en-US" b="1" dirty="0"/>
              <a:t>: This means</a:t>
            </a:r>
          </a:p>
          <a:p>
            <a:pPr lvl="1"/>
            <a:r>
              <a:rPr lang="en-US" sz="3200" b="1" dirty="0" smtClean="0"/>
              <a:t>responds </a:t>
            </a:r>
            <a:r>
              <a:rPr lang="en-US" sz="3200" b="1" dirty="0"/>
              <a:t>to questions</a:t>
            </a:r>
          </a:p>
          <a:p>
            <a:pPr lvl="1"/>
            <a:r>
              <a:rPr lang="en-US" sz="3200" b="1" dirty="0" smtClean="0"/>
              <a:t>asks </a:t>
            </a:r>
            <a:r>
              <a:rPr lang="en-US" sz="3200" b="1" dirty="0"/>
              <a:t>for clarifications</a:t>
            </a:r>
          </a:p>
          <a:p>
            <a:pPr lvl="1"/>
            <a:r>
              <a:rPr lang="en-US" sz="3200" b="1" dirty="0" smtClean="0"/>
              <a:t>makes </a:t>
            </a:r>
            <a:r>
              <a:rPr lang="en-US" sz="3200" b="1" dirty="0"/>
              <a:t>recommendations</a:t>
            </a:r>
          </a:p>
          <a:p>
            <a:pPr lvl="1"/>
            <a:r>
              <a:rPr lang="en-US" sz="3200" b="1" dirty="0" smtClean="0"/>
              <a:t>aids </a:t>
            </a:r>
            <a:r>
              <a:rPr lang="en-US" sz="3200" b="1" dirty="0"/>
              <a:t>the decision-making process.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Tools </a:t>
            </a:r>
            <a:r>
              <a:rPr lang="en-US" b="1" dirty="0">
                <a:solidFill>
                  <a:srgbClr val="FF0000"/>
                </a:solidFill>
              </a:rPr>
              <a:t>have ability to store and </a:t>
            </a:r>
            <a:r>
              <a:rPr lang="en-US" b="1" dirty="0" smtClean="0">
                <a:solidFill>
                  <a:srgbClr val="FF0000"/>
                </a:solidFill>
              </a:rPr>
              <a:t>select </a:t>
            </a:r>
            <a:r>
              <a:rPr lang="en-US" b="1" dirty="0"/>
              <a:t>(filter) </a:t>
            </a:r>
            <a:r>
              <a:rPr lang="en-US" b="1" dirty="0">
                <a:solidFill>
                  <a:srgbClr val="FF0000"/>
                </a:solidFill>
              </a:rPr>
              <a:t>knowledge</a:t>
            </a:r>
          </a:p>
          <a:p>
            <a:pPr lvl="1"/>
            <a:r>
              <a:rPr lang="en-US" sz="3200" b="1" dirty="0" smtClean="0"/>
              <a:t>storage </a:t>
            </a:r>
            <a:r>
              <a:rPr lang="en-US" sz="3200" b="1" dirty="0"/>
              <a:t>and retrieval of knowledge</a:t>
            </a:r>
          </a:p>
          <a:p>
            <a:pPr lvl="1"/>
            <a:r>
              <a:rPr lang="en-US" sz="3200" b="1" dirty="0" smtClean="0"/>
              <a:t>mechanisms </a:t>
            </a:r>
            <a:r>
              <a:rPr lang="en-US" sz="3200" b="1" dirty="0"/>
              <a:t>to expand and update knowledge base on a continuing basis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4864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Capability to make logical inferences based on knowledge stored</a:t>
            </a:r>
          </a:p>
          <a:p>
            <a:pPr lvl="1"/>
            <a:r>
              <a:rPr lang="en-US" sz="3200" b="1" dirty="0" smtClean="0"/>
              <a:t>simple </a:t>
            </a:r>
            <a:r>
              <a:rPr lang="en-US" sz="3200" b="1" dirty="0"/>
              <a:t>reasoning mechanisms is used</a:t>
            </a:r>
          </a:p>
          <a:p>
            <a:pPr lvl="1"/>
            <a:r>
              <a:rPr lang="en-US" sz="3200" b="1" dirty="0" smtClean="0"/>
              <a:t>KB </a:t>
            </a:r>
            <a:r>
              <a:rPr lang="en-US" sz="3200" b="1" dirty="0"/>
              <a:t>with means of exploiting the knowledge stored, else it is </a:t>
            </a:r>
            <a:r>
              <a:rPr lang="en-US" sz="3200" b="1" dirty="0" smtClean="0"/>
              <a:t>not useful</a:t>
            </a:r>
            <a:endParaRPr lang="en-US" sz="3200" b="1" dirty="0"/>
          </a:p>
          <a:p>
            <a:r>
              <a:rPr lang="en-US" sz="3600" dirty="0"/>
              <a:t>learning all the words in a language, without knowing how to </a:t>
            </a:r>
            <a:r>
              <a:rPr lang="en-US" sz="3600" dirty="0" smtClean="0"/>
              <a:t>combine those </a:t>
            </a:r>
            <a:r>
              <a:rPr lang="en-US" sz="3600" dirty="0"/>
              <a:t>words to form a meaningful sentence</a:t>
            </a:r>
            <a:r>
              <a:rPr lang="en-US" sz="3600" dirty="0" smtClean="0"/>
              <a:t>. </a:t>
            </a:r>
            <a:br>
              <a:rPr lang="en-US" sz="3600" dirty="0" smtClean="0"/>
            </a:br>
            <a:r>
              <a:rPr lang="en-US" sz="3600" dirty="0" smtClean="0">
                <a:solidFill>
                  <a:srgbClr val="FF0000"/>
                </a:solidFill>
              </a:rPr>
              <a:t>(Dictionary)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382000" cy="594360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Ability to explain reasoning</a:t>
            </a:r>
          </a:p>
          <a:p>
            <a:pPr lvl="1"/>
            <a:r>
              <a:rPr lang="en-US" b="1" dirty="0" smtClean="0"/>
              <a:t>remembers </a:t>
            </a:r>
            <a:r>
              <a:rPr lang="en-US" b="1" dirty="0"/>
              <a:t>logical chain of reasoning therefore user may ask</a:t>
            </a:r>
          </a:p>
          <a:p>
            <a:pPr lvl="1"/>
            <a:r>
              <a:rPr lang="en-US" b="1" dirty="0" smtClean="0"/>
              <a:t>for </a:t>
            </a:r>
            <a:r>
              <a:rPr lang="en-US" b="1" dirty="0"/>
              <a:t>explanation of a recommendation</a:t>
            </a:r>
          </a:p>
          <a:p>
            <a:pPr lvl="1"/>
            <a:r>
              <a:rPr lang="en-US" b="1" dirty="0" smtClean="0"/>
              <a:t>factors </a:t>
            </a:r>
            <a:r>
              <a:rPr lang="en-US" b="1" dirty="0"/>
              <a:t>considered in recommendation</a:t>
            </a:r>
          </a:p>
          <a:p>
            <a:pPr lvl="1"/>
            <a:r>
              <a:rPr lang="en-US" b="1" dirty="0" smtClean="0"/>
              <a:t>enhances </a:t>
            </a:r>
            <a:r>
              <a:rPr lang="en-US" b="1" dirty="0"/>
              <a:t>user confidence in recommendation and acceptance </a:t>
            </a:r>
            <a:r>
              <a:rPr lang="en-US" b="1" dirty="0" smtClean="0"/>
              <a:t>of </a:t>
            </a:r>
            <a:r>
              <a:rPr lang="en-US" dirty="0" smtClean="0"/>
              <a:t>expert system</a:t>
            </a:r>
          </a:p>
          <a:p>
            <a:r>
              <a:rPr lang="en-US" b="1" dirty="0">
                <a:solidFill>
                  <a:srgbClr val="FF0000"/>
                </a:solidFill>
              </a:rPr>
              <a:t>Systems are very domain-specific</a:t>
            </a:r>
          </a:p>
          <a:p>
            <a:pPr lvl="1"/>
            <a:r>
              <a:rPr lang="en-US" b="1" dirty="0" smtClean="0"/>
              <a:t>a </a:t>
            </a:r>
            <a:r>
              <a:rPr lang="en-US" b="1" dirty="0"/>
              <a:t>particular system caters a narrow area of specialization; a </a:t>
            </a:r>
            <a:r>
              <a:rPr lang="en-US" b="1" dirty="0" smtClean="0"/>
              <a:t>medical </a:t>
            </a:r>
            <a:r>
              <a:rPr lang="en-US" dirty="0" smtClean="0"/>
              <a:t>expert </a:t>
            </a:r>
            <a:r>
              <a:rPr lang="en-US" dirty="0"/>
              <a:t>system cannot be used to find faults in an electrical circuit</a:t>
            </a:r>
          </a:p>
          <a:p>
            <a:pPr lvl="1"/>
            <a:r>
              <a:rPr lang="en-US" b="1" dirty="0" smtClean="0"/>
              <a:t>quality </a:t>
            </a:r>
            <a:r>
              <a:rPr lang="en-US" b="1" dirty="0"/>
              <a:t>of advice offered by an expert system is dependent on the </a:t>
            </a:r>
            <a:r>
              <a:rPr lang="en-US" b="1" dirty="0" smtClean="0"/>
              <a:t>amount </a:t>
            </a:r>
            <a:r>
              <a:rPr lang="en-US" dirty="0" smtClean="0"/>
              <a:t>of </a:t>
            </a:r>
            <a:r>
              <a:rPr lang="en-US" dirty="0"/>
              <a:t>knowledge stored.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5626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Capability </a:t>
            </a:r>
            <a:r>
              <a:rPr lang="en-US" b="1" dirty="0">
                <a:solidFill>
                  <a:srgbClr val="FF0000"/>
                </a:solidFill>
              </a:rPr>
              <a:t>to assign of confidence values</a:t>
            </a:r>
          </a:p>
          <a:p>
            <a:pPr lvl="1"/>
            <a:r>
              <a:rPr lang="en-US" b="1" dirty="0" smtClean="0"/>
              <a:t>can </a:t>
            </a:r>
            <a:r>
              <a:rPr lang="en-US" b="1" dirty="0"/>
              <a:t>deliver quantitative information</a:t>
            </a:r>
          </a:p>
          <a:p>
            <a:pPr lvl="1"/>
            <a:r>
              <a:rPr lang="en-US" b="1" dirty="0" smtClean="0"/>
              <a:t>can </a:t>
            </a:r>
            <a:r>
              <a:rPr lang="en-US" b="1" dirty="0"/>
              <a:t>interpret qualitatively derived values</a:t>
            </a:r>
          </a:p>
          <a:p>
            <a:pPr lvl="1"/>
            <a:r>
              <a:rPr lang="en-US" b="1" dirty="0" smtClean="0"/>
              <a:t>can </a:t>
            </a:r>
            <a:r>
              <a:rPr lang="en-US" b="1" dirty="0"/>
              <a:t>address imprecise and incomplete data through assignment </a:t>
            </a:r>
            <a:r>
              <a:rPr lang="en-US" b="1" dirty="0" smtClean="0"/>
              <a:t>of </a:t>
            </a:r>
            <a:r>
              <a:rPr lang="en-US" dirty="0" smtClean="0"/>
              <a:t>confidence </a:t>
            </a:r>
            <a:r>
              <a:rPr lang="en-US" dirty="0"/>
              <a:t>values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Best </a:t>
            </a:r>
            <a:r>
              <a:rPr lang="en-US" b="1" dirty="0">
                <a:solidFill>
                  <a:srgbClr val="FF0000"/>
                </a:solidFill>
              </a:rPr>
              <a:t>suited applications for expert systems</a:t>
            </a:r>
          </a:p>
          <a:p>
            <a:pPr lvl="1"/>
            <a:r>
              <a:rPr lang="en-US" b="1" dirty="0" smtClean="0"/>
              <a:t>for </a:t>
            </a:r>
            <a:r>
              <a:rPr lang="en-US" b="1" dirty="0"/>
              <a:t>those dealing with expert heuristics for solving problems.</a:t>
            </a:r>
          </a:p>
          <a:p>
            <a:pPr lvl="1"/>
            <a:r>
              <a:rPr lang="en-US" b="1" dirty="0" smtClean="0"/>
              <a:t>not </a:t>
            </a:r>
            <a:r>
              <a:rPr lang="en-US" b="1" dirty="0"/>
              <a:t>a suitable choice for those problems that can be solved using </a:t>
            </a:r>
            <a:r>
              <a:rPr lang="en-US" b="1" dirty="0" smtClean="0"/>
              <a:t>purely </a:t>
            </a:r>
            <a:r>
              <a:rPr lang="en-US" dirty="0" smtClean="0"/>
              <a:t>numerical </a:t>
            </a:r>
            <a:r>
              <a:rPr lang="en-US" dirty="0"/>
              <a:t>techniques.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9436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Cost-effective </a:t>
            </a:r>
            <a:r>
              <a:rPr lang="en-US" b="1" dirty="0">
                <a:solidFill>
                  <a:srgbClr val="FF0000"/>
                </a:solidFill>
              </a:rPr>
              <a:t>alternative to human expert</a:t>
            </a:r>
          </a:p>
          <a:p>
            <a:pPr lvl="1"/>
            <a:r>
              <a:rPr lang="en-US" b="1" dirty="0" smtClean="0"/>
              <a:t>Expert </a:t>
            </a:r>
            <a:r>
              <a:rPr lang="en-US" b="1" dirty="0"/>
              <a:t>systems have become increasingly popular because of </a:t>
            </a:r>
            <a:r>
              <a:rPr lang="en-US" b="1" dirty="0" smtClean="0"/>
              <a:t>their </a:t>
            </a:r>
            <a:r>
              <a:rPr lang="en-US" dirty="0" smtClean="0"/>
              <a:t>specialization</a:t>
            </a:r>
            <a:r>
              <a:rPr lang="en-US" dirty="0"/>
              <a:t>, </a:t>
            </a:r>
            <a:r>
              <a:rPr lang="en-US" dirty="0" smtClean="0"/>
              <a:t>although </a:t>
            </a:r>
            <a:r>
              <a:rPr lang="en-US" dirty="0"/>
              <a:t>in a narrow field.</a:t>
            </a:r>
          </a:p>
          <a:p>
            <a:pPr lvl="1"/>
            <a:r>
              <a:rPr lang="en-US" b="1" dirty="0" smtClean="0"/>
              <a:t>The </a:t>
            </a:r>
            <a:r>
              <a:rPr lang="en-US" b="1" dirty="0"/>
              <a:t>small size of the domain makes encoding and storing the </a:t>
            </a:r>
            <a:r>
              <a:rPr lang="en-US" b="1" dirty="0" smtClean="0"/>
              <a:t>domain specific </a:t>
            </a:r>
            <a:r>
              <a:rPr lang="en-US" dirty="0" smtClean="0"/>
              <a:t>knowledge </a:t>
            </a:r>
            <a:r>
              <a:rPr lang="en-US" dirty="0"/>
              <a:t>an economic process.</a:t>
            </a:r>
          </a:p>
          <a:p>
            <a:pPr lvl="1"/>
            <a:r>
              <a:rPr lang="en-US" b="1" dirty="0" smtClean="0"/>
              <a:t>specialists </a:t>
            </a:r>
            <a:r>
              <a:rPr lang="en-US" b="1" dirty="0"/>
              <a:t>in many areas are scarce, and the cost of consulting them </a:t>
            </a:r>
            <a:r>
              <a:rPr lang="en-US" b="1" dirty="0" smtClean="0"/>
              <a:t>is </a:t>
            </a:r>
            <a:r>
              <a:rPr lang="en-US" dirty="0" smtClean="0"/>
              <a:t>high</a:t>
            </a:r>
            <a:r>
              <a:rPr lang="en-US" dirty="0"/>
              <a:t>, an expert system catering to any of those areas can be considered </a:t>
            </a:r>
            <a:r>
              <a:rPr lang="en-US" dirty="0" smtClean="0"/>
              <a:t>to be </a:t>
            </a:r>
            <a:r>
              <a:rPr lang="en-US" dirty="0"/>
              <a:t>a useful and cost-effective alternative, in the long run.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>
            <a:normAutofit/>
          </a:bodyPr>
          <a:lstStyle/>
          <a:p>
            <a:r>
              <a:rPr lang="en-US" b="1" dirty="0"/>
              <a:t>Expert System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382000" cy="5287963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Goal </a:t>
            </a:r>
            <a:r>
              <a:rPr lang="en-US" b="1" dirty="0">
                <a:solidFill>
                  <a:srgbClr val="FF0000"/>
                </a:solidFill>
              </a:rPr>
              <a:t>driven reasoning or backward chaining : </a:t>
            </a:r>
            <a:r>
              <a:rPr lang="en-US" b="1" dirty="0"/>
              <a:t>an inference </a:t>
            </a:r>
            <a:r>
              <a:rPr lang="en-US" b="1" dirty="0" smtClean="0"/>
              <a:t>technique </a:t>
            </a:r>
            <a:r>
              <a:rPr lang="en-US" dirty="0" smtClean="0"/>
              <a:t>which </a:t>
            </a:r>
            <a:r>
              <a:rPr lang="en-US" dirty="0"/>
              <a:t>uses IF THEN rules to repetitively break a goal into smaller </a:t>
            </a:r>
            <a:r>
              <a:rPr lang="en-US" dirty="0" smtClean="0"/>
              <a:t>sub-goals which </a:t>
            </a:r>
            <a:r>
              <a:rPr lang="en-US" dirty="0"/>
              <a:t>are easier to prove;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Coping </a:t>
            </a:r>
            <a:r>
              <a:rPr lang="en-US" b="1" dirty="0">
                <a:solidFill>
                  <a:srgbClr val="FF0000"/>
                </a:solidFill>
              </a:rPr>
              <a:t>with uncertainty </a:t>
            </a:r>
            <a:r>
              <a:rPr lang="en-US" b="1" dirty="0"/>
              <a:t>: the ability of the system to reason with rules </a:t>
            </a:r>
            <a:r>
              <a:rPr lang="en-US" b="1" dirty="0" smtClean="0"/>
              <a:t>and </a:t>
            </a:r>
            <a:r>
              <a:rPr lang="en-US" dirty="0" smtClean="0"/>
              <a:t>data </a:t>
            </a:r>
            <a:r>
              <a:rPr lang="en-US" dirty="0"/>
              <a:t>which are not precisely known;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Data </a:t>
            </a:r>
            <a:r>
              <a:rPr lang="en-US" b="1" dirty="0">
                <a:solidFill>
                  <a:srgbClr val="FF0000"/>
                </a:solidFill>
              </a:rPr>
              <a:t>driven reasoning or forward chaining </a:t>
            </a:r>
            <a:r>
              <a:rPr lang="en-US" b="1" dirty="0"/>
              <a:t>: an inference technique </a:t>
            </a:r>
            <a:r>
              <a:rPr lang="en-US" b="1" dirty="0" smtClean="0"/>
              <a:t>which </a:t>
            </a:r>
            <a:r>
              <a:rPr lang="en-US" dirty="0" smtClean="0"/>
              <a:t>uses </a:t>
            </a:r>
            <a:r>
              <a:rPr lang="en-US" dirty="0"/>
              <a:t>IF THEN rules to deduce a problem solution from initial data</a:t>
            </a:r>
            <a:r>
              <a:rPr lang="en-US" dirty="0" smtClean="0"/>
              <a:t>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>
            <a:normAutofit/>
          </a:bodyPr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458200" cy="54864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</a:rPr>
              <a:t>Data representation </a:t>
            </a:r>
            <a:r>
              <a:rPr lang="en-US" sz="3600" b="1" dirty="0" smtClean="0"/>
              <a:t>: the way in which the problem specific data in the </a:t>
            </a:r>
            <a:r>
              <a:rPr lang="en-US" sz="3600" dirty="0" smtClean="0"/>
              <a:t>system is stored and accessed;</a:t>
            </a:r>
          </a:p>
          <a:p>
            <a:r>
              <a:rPr lang="en-US" sz="3600" b="1" dirty="0" smtClean="0">
                <a:solidFill>
                  <a:srgbClr val="FF0000"/>
                </a:solidFill>
              </a:rPr>
              <a:t>User interface </a:t>
            </a:r>
            <a:r>
              <a:rPr lang="en-US" sz="3600" b="1" dirty="0" smtClean="0"/>
              <a:t>: that portion of the code which creates an easy to use </a:t>
            </a:r>
            <a:r>
              <a:rPr lang="en-US" sz="3600" dirty="0" smtClean="0"/>
              <a:t>system;</a:t>
            </a:r>
          </a:p>
          <a:p>
            <a:r>
              <a:rPr lang="en-US" sz="3600" b="1" dirty="0" smtClean="0">
                <a:solidFill>
                  <a:srgbClr val="FF0000"/>
                </a:solidFill>
              </a:rPr>
              <a:t>Explanations</a:t>
            </a:r>
            <a:r>
              <a:rPr lang="en-US" sz="3600" b="1" dirty="0" smtClean="0"/>
              <a:t> : the ability of the system to explain the reasoning process that </a:t>
            </a:r>
            <a:r>
              <a:rPr lang="en-US" sz="3600" dirty="0" smtClean="0"/>
              <a:t>it used to reach a recommendation.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Goal-Driven Reasoning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r>
              <a:rPr lang="en-US" dirty="0"/>
              <a:t>Goal-driven reasoning, or backward chaining, is an efficient way to </a:t>
            </a:r>
            <a:r>
              <a:rPr lang="en-US" dirty="0" smtClean="0"/>
              <a:t>solve problems</a:t>
            </a:r>
            <a:r>
              <a:rPr lang="en-US" dirty="0"/>
              <a:t>. The Backward chaining or goal driven algorithm proceeds </a:t>
            </a:r>
            <a:r>
              <a:rPr lang="en-US" dirty="0" smtClean="0"/>
              <a:t>from desired </a:t>
            </a:r>
            <a:r>
              <a:rPr lang="en-US" dirty="0"/>
              <a:t>goal, adding new assertions found.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886200"/>
            <a:ext cx="84582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>
            <a:normAutofit/>
          </a:bodyPr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562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knowledge is structured in rules which describe how each of </a:t>
            </a:r>
            <a:r>
              <a:rPr lang="en-US" dirty="0" smtClean="0"/>
              <a:t>the possibilities </a:t>
            </a:r>
            <a:r>
              <a:rPr lang="en-US" dirty="0"/>
              <a:t>might be selected. The rule breaks the problem into </a:t>
            </a:r>
            <a:r>
              <a:rPr lang="en-US" dirty="0" smtClean="0"/>
              <a:t>sub problems</a:t>
            </a:r>
            <a:r>
              <a:rPr lang="en-US" dirty="0"/>
              <a:t>.</a:t>
            </a:r>
          </a:p>
          <a:p>
            <a:r>
              <a:rPr lang="en-US" dirty="0" smtClean="0"/>
              <a:t>Example :</a:t>
            </a:r>
          </a:p>
          <a:p>
            <a:pPr lvl="1">
              <a:buNone/>
            </a:pPr>
            <a:r>
              <a:rPr lang="en-US" dirty="0" smtClean="0"/>
              <a:t>		</a:t>
            </a:r>
            <a:r>
              <a:rPr lang="en-US" sz="3500" dirty="0" smtClean="0"/>
              <a:t>KB </a:t>
            </a:r>
            <a:r>
              <a:rPr lang="en-US" sz="3500" dirty="0"/>
              <a:t>contains </a:t>
            </a:r>
            <a:r>
              <a:rPr lang="en-US" sz="3500" dirty="0" smtClean="0"/>
              <a:t>rule </a:t>
            </a:r>
            <a:r>
              <a:rPr lang="en-US" sz="3500" dirty="0"/>
              <a:t>set</a:t>
            </a:r>
            <a:r>
              <a:rPr lang="en-US" dirty="0"/>
              <a:t> </a:t>
            </a:r>
          </a:p>
          <a:p>
            <a:pPr lvl="1">
              <a:buNone/>
            </a:pPr>
            <a:r>
              <a:rPr lang="en-US" dirty="0" smtClean="0"/>
              <a:t>			Rule </a:t>
            </a:r>
            <a:r>
              <a:rPr lang="en-US" dirty="0"/>
              <a:t>1: if A and C then F</a:t>
            </a:r>
          </a:p>
          <a:p>
            <a:pPr>
              <a:buNone/>
            </a:pPr>
            <a:r>
              <a:rPr lang="en-US" dirty="0" smtClean="0"/>
              <a:t>			Rule </a:t>
            </a:r>
            <a:r>
              <a:rPr lang="en-US" dirty="0"/>
              <a:t>2: if A and E then G</a:t>
            </a:r>
          </a:p>
          <a:p>
            <a:pPr>
              <a:buNone/>
            </a:pPr>
            <a:r>
              <a:rPr lang="en-US" dirty="0" smtClean="0"/>
              <a:t>			Rule </a:t>
            </a:r>
            <a:r>
              <a:rPr lang="en-US" dirty="0"/>
              <a:t>3: if B then E</a:t>
            </a:r>
          </a:p>
          <a:p>
            <a:pPr>
              <a:buNone/>
            </a:pPr>
            <a:r>
              <a:rPr lang="en-US" dirty="0" smtClean="0"/>
              <a:t>			Rule </a:t>
            </a:r>
            <a:r>
              <a:rPr lang="en-US" dirty="0"/>
              <a:t>4: if G then </a:t>
            </a:r>
            <a:r>
              <a:rPr lang="en-US" dirty="0" smtClean="0"/>
              <a:t>D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sz="3500" dirty="0" smtClean="0"/>
              <a:t>Problem </a:t>
            </a:r>
            <a:r>
              <a:rPr lang="en-US" sz="3500" dirty="0"/>
              <a:t>: </a:t>
            </a:r>
            <a:r>
              <a:rPr lang="en-US" sz="3500" dirty="0" smtClean="0"/>
              <a:t>prove</a:t>
            </a:r>
          </a:p>
          <a:p>
            <a:pPr>
              <a:buNone/>
            </a:pPr>
            <a:r>
              <a:rPr lang="en-US" dirty="0" smtClean="0"/>
              <a:t>			if </a:t>
            </a:r>
            <a:r>
              <a:rPr lang="en-US" dirty="0"/>
              <a:t>A and B true then D is true</a:t>
            </a:r>
          </a:p>
          <a:p>
            <a:pPr>
              <a:buNone/>
            </a:pPr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Data Driven Reasoning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1"/>
            <a:ext cx="9144000" cy="3810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data driven approach, or Forward chaining, uses rules similar </a:t>
            </a:r>
            <a:r>
              <a:rPr lang="en-US" dirty="0" smtClean="0"/>
              <a:t>to those </a:t>
            </a:r>
            <a:r>
              <a:rPr lang="en-US" dirty="0"/>
              <a:t>used for backward chaining. However, the inference process </a:t>
            </a:r>
            <a:r>
              <a:rPr lang="en-US" dirty="0" smtClean="0"/>
              <a:t>is different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system keeps track of the current state of </a:t>
            </a:r>
            <a:r>
              <a:rPr lang="en-US" dirty="0" smtClean="0"/>
              <a:t>problem solution </a:t>
            </a:r>
            <a:r>
              <a:rPr lang="en-US" dirty="0"/>
              <a:t>and looks for rules which will move that state closer to a </a:t>
            </a:r>
            <a:r>
              <a:rPr lang="en-US" dirty="0" smtClean="0"/>
              <a:t>final solution</a:t>
            </a:r>
          </a:p>
          <a:p>
            <a:r>
              <a:rPr lang="en-US" dirty="0" smtClean="0"/>
              <a:t>The </a:t>
            </a:r>
            <a:r>
              <a:rPr lang="en-US" dirty="0"/>
              <a:t>Algorithm proceeds from given situation to desired </a:t>
            </a:r>
            <a:r>
              <a:rPr lang="en-US" dirty="0" smtClean="0"/>
              <a:t>goal, adding </a:t>
            </a:r>
            <a:r>
              <a:rPr lang="en-US" dirty="0"/>
              <a:t>new assertions found.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4572000"/>
            <a:ext cx="86106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Knowledge Acquisition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458200" cy="5059363"/>
          </a:xfrm>
        </p:spPr>
        <p:txBody>
          <a:bodyPr/>
          <a:lstStyle/>
          <a:p>
            <a:r>
              <a:rPr lang="en-US" dirty="0"/>
              <a:t>Knowledge acquisition includes the </a:t>
            </a:r>
            <a:r>
              <a:rPr lang="en-US" dirty="0" smtClean="0"/>
              <a:t>elicitation (draw out from someone), </a:t>
            </a:r>
            <a:r>
              <a:rPr lang="en-US" dirty="0"/>
              <a:t>collection, analysis, </a:t>
            </a:r>
            <a:r>
              <a:rPr lang="en-US" dirty="0" smtClean="0"/>
              <a:t>demonstrating (modelling) and </a:t>
            </a:r>
            <a:r>
              <a:rPr lang="en-US" dirty="0"/>
              <a:t>validation of knowledge.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Issues in Knowledge Acquisition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458200" cy="54864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The </a:t>
            </a:r>
            <a:r>
              <a:rPr lang="en-US" dirty="0"/>
              <a:t>important issues in knowledge acquisition are:</a:t>
            </a:r>
          </a:p>
          <a:p>
            <a:pPr>
              <a:buNone/>
            </a:pPr>
            <a:r>
              <a:rPr lang="en-US" b="1" dirty="0" smtClean="0"/>
              <a:t>	■ </a:t>
            </a:r>
            <a:r>
              <a:rPr lang="en-US" b="1" dirty="0"/>
              <a:t>knowledge is in the head of experts</a:t>
            </a:r>
          </a:p>
          <a:p>
            <a:pPr>
              <a:buNone/>
            </a:pPr>
            <a:r>
              <a:rPr lang="en-US" b="1" dirty="0" smtClean="0"/>
              <a:t>	■ </a:t>
            </a:r>
            <a:r>
              <a:rPr lang="en-US" b="1" dirty="0"/>
              <a:t>Experts have vast amounts of knowledge</a:t>
            </a:r>
          </a:p>
          <a:p>
            <a:pPr>
              <a:buNone/>
            </a:pPr>
            <a:r>
              <a:rPr lang="en-US" b="1" dirty="0" smtClean="0"/>
              <a:t>	■ </a:t>
            </a:r>
            <a:r>
              <a:rPr lang="en-US" b="1" dirty="0"/>
              <a:t>Experts have a lot of </a:t>
            </a:r>
            <a:r>
              <a:rPr lang="en-US" b="1" dirty="0" smtClean="0"/>
              <a:t>unspoken (tacit) </a:t>
            </a:r>
            <a:r>
              <a:rPr lang="en-US" b="1" dirty="0"/>
              <a:t>knowledge</a:t>
            </a:r>
          </a:p>
          <a:p>
            <a:pPr lvl="1"/>
            <a:r>
              <a:rPr lang="en-US" b="1" dirty="0" smtClean="0"/>
              <a:t> </a:t>
            </a:r>
            <a:r>
              <a:rPr lang="en-US" b="1" dirty="0"/>
              <a:t>They do not know all that they know and use</a:t>
            </a:r>
          </a:p>
          <a:p>
            <a:pPr lvl="1"/>
            <a:r>
              <a:rPr lang="en-US" b="1" dirty="0" smtClean="0"/>
              <a:t>Unspoken </a:t>
            </a:r>
            <a:r>
              <a:rPr lang="en-US" b="1" dirty="0"/>
              <a:t>knowledge is hard (impossible) to describe</a:t>
            </a:r>
          </a:p>
          <a:p>
            <a:pPr>
              <a:buNone/>
            </a:pPr>
            <a:r>
              <a:rPr lang="en-US" b="1" dirty="0" smtClean="0"/>
              <a:t>	■ </a:t>
            </a:r>
            <a:r>
              <a:rPr lang="en-US" b="1" dirty="0"/>
              <a:t>Experts are very busy and valuable people</a:t>
            </a:r>
          </a:p>
          <a:p>
            <a:pPr>
              <a:buNone/>
            </a:pPr>
            <a:r>
              <a:rPr lang="en-US" b="1" dirty="0" smtClean="0"/>
              <a:t>	■ </a:t>
            </a:r>
            <a:r>
              <a:rPr lang="en-US" b="1" dirty="0"/>
              <a:t>One expert does not know everything</a:t>
            </a:r>
          </a:p>
          <a:p>
            <a:pPr>
              <a:buNone/>
            </a:pPr>
            <a:r>
              <a:rPr lang="en-US" b="1" dirty="0" smtClean="0"/>
              <a:t>	■ </a:t>
            </a:r>
            <a:r>
              <a:rPr lang="en-US" b="1" dirty="0"/>
              <a:t>Knowledge has a "shelf </a:t>
            </a:r>
            <a:r>
              <a:rPr lang="en-US" b="1" dirty="0" smtClean="0"/>
              <a:t>life“</a:t>
            </a:r>
            <a:endParaRPr lang="en-US" b="1" dirty="0"/>
          </a:p>
          <a:p>
            <a:pPr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Techniques for Knowledge Acquisition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534400" cy="541020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b="1" dirty="0" smtClean="0"/>
              <a:t>■ </a:t>
            </a:r>
            <a:r>
              <a:rPr lang="en-US" b="1" dirty="0" smtClean="0">
                <a:solidFill>
                  <a:srgbClr val="FF0000"/>
                </a:solidFill>
              </a:rPr>
              <a:t>Protocol-generation </a:t>
            </a:r>
            <a:r>
              <a:rPr lang="en-US" b="1" dirty="0">
                <a:solidFill>
                  <a:srgbClr val="FF0000"/>
                </a:solidFill>
              </a:rPr>
              <a:t>techniques include various types of</a:t>
            </a:r>
          </a:p>
          <a:p>
            <a:pPr marL="514350" indent="115888">
              <a:buFont typeface="+mj-lt"/>
              <a:buAutoNum type="arabicPeriod"/>
            </a:pPr>
            <a:r>
              <a:rPr lang="en-US" dirty="0" smtClean="0"/>
              <a:t>	Interviews </a:t>
            </a:r>
            <a:r>
              <a:rPr lang="en-US" dirty="0"/>
              <a:t>(unstructured, semi-structured and structured), </a:t>
            </a:r>
            <a:endParaRPr lang="en-US" dirty="0" smtClean="0"/>
          </a:p>
          <a:p>
            <a:pPr marL="514350" indent="115888">
              <a:buFont typeface="+mj-lt"/>
              <a:buAutoNum type="arabicPeriod"/>
            </a:pPr>
            <a:r>
              <a:rPr lang="en-US" dirty="0"/>
              <a:t> </a:t>
            </a:r>
            <a:r>
              <a:rPr lang="en-US" dirty="0" smtClean="0"/>
              <a:t>R</a:t>
            </a:r>
            <a:r>
              <a:rPr lang="en-US" dirty="0" smtClean="0"/>
              <a:t>eporting </a:t>
            </a:r>
            <a:r>
              <a:rPr lang="en-US" dirty="0" smtClean="0"/>
              <a:t>and </a:t>
            </a:r>
            <a:r>
              <a:rPr lang="en-US" dirty="0"/>
              <a:t>observational techniques.</a:t>
            </a:r>
          </a:p>
          <a:p>
            <a:pPr>
              <a:buNone/>
            </a:pPr>
            <a:r>
              <a:rPr lang="en-US" b="1" dirty="0"/>
              <a:t>■ </a:t>
            </a:r>
            <a:r>
              <a:rPr lang="en-US" b="1" dirty="0">
                <a:solidFill>
                  <a:srgbClr val="FF0000"/>
                </a:solidFill>
              </a:rPr>
              <a:t>Protocol analysis techniques are used with transcripts</a:t>
            </a:r>
            <a:r>
              <a:rPr lang="en-US" b="1" dirty="0"/>
              <a:t> </a:t>
            </a:r>
            <a:endParaRPr lang="en-US" b="1" dirty="0" smtClean="0"/>
          </a:p>
          <a:p>
            <a:pPr marL="514350" indent="254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dirty="0" smtClean="0"/>
              <a:t>of </a:t>
            </a:r>
            <a:r>
              <a:rPr lang="en-US" dirty="0" smtClean="0"/>
              <a:t>interviews </a:t>
            </a:r>
            <a:r>
              <a:rPr lang="en-US" dirty="0"/>
              <a:t>or text-based information to identify basic </a:t>
            </a:r>
            <a:r>
              <a:rPr lang="en-US" dirty="0" smtClean="0"/>
              <a:t>knowledge objects </a:t>
            </a:r>
            <a:r>
              <a:rPr lang="en-US" dirty="0"/>
              <a:t>within a protocol, </a:t>
            </a:r>
            <a:endParaRPr lang="en-US" dirty="0" smtClean="0"/>
          </a:p>
          <a:p>
            <a:pPr marL="514350" indent="254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dirty="0" smtClean="0"/>
              <a:t>such </a:t>
            </a:r>
            <a:r>
              <a:rPr lang="en-US" dirty="0"/>
              <a:t>as goals, decisions, relationships </a:t>
            </a:r>
            <a:r>
              <a:rPr lang="en-US" dirty="0" smtClean="0"/>
              <a:t>and attributes</a:t>
            </a:r>
            <a:r>
              <a:rPr lang="en-US" dirty="0"/>
              <a:t>. 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This </a:t>
            </a:r>
            <a:r>
              <a:rPr lang="en-US" dirty="0"/>
              <a:t>acts as a bridge between the use of </a:t>
            </a:r>
            <a:r>
              <a:rPr lang="en-US" dirty="0" smtClean="0"/>
              <a:t>protocol-based techniques </a:t>
            </a:r>
            <a:r>
              <a:rPr lang="en-US" dirty="0"/>
              <a:t>and knowledge modelling techniques</a:t>
            </a:r>
            <a:r>
              <a:rPr lang="en-US" dirty="0" smtClean="0"/>
              <a:t>.</a:t>
            </a:r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34400" cy="55626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/>
              <a:t>■ </a:t>
            </a:r>
            <a:r>
              <a:rPr lang="en-US" b="1" dirty="0" smtClean="0">
                <a:solidFill>
                  <a:srgbClr val="FF0000"/>
                </a:solidFill>
              </a:rPr>
              <a:t>Hierarchy-generation techniques </a:t>
            </a:r>
            <a:r>
              <a:rPr lang="en-US" b="1" dirty="0" smtClean="0"/>
              <a:t>(laddering techniques) involve </a:t>
            </a:r>
            <a:endParaRPr lang="en-US" b="1" dirty="0" smtClean="0"/>
          </a:p>
          <a:p>
            <a:pPr marL="514350" indent="25400">
              <a:buFont typeface="+mj-lt"/>
              <a:buAutoNum type="arabicPeriod"/>
            </a:pPr>
            <a:r>
              <a:rPr lang="en-US" b="1" dirty="0"/>
              <a:t> </a:t>
            </a:r>
            <a:r>
              <a:rPr lang="en-US" dirty="0" smtClean="0"/>
              <a:t>creation</a:t>
            </a:r>
            <a:r>
              <a:rPr lang="en-US" dirty="0" smtClean="0"/>
              <a:t>, reviewing and modification of hierarchical knowledge. </a:t>
            </a:r>
            <a:endParaRPr lang="en-US" dirty="0" smtClean="0"/>
          </a:p>
          <a:p>
            <a:pPr marL="514350" indent="254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dirty="0" smtClean="0"/>
              <a:t>t</a:t>
            </a:r>
            <a:r>
              <a:rPr lang="en-US" dirty="0" smtClean="0"/>
              <a:t>he </a:t>
            </a:r>
            <a:r>
              <a:rPr lang="en-US" dirty="0" smtClean="0"/>
              <a:t>techniques are used to build hierarchical structures such as goal trees and decision networks. </a:t>
            </a:r>
            <a:endParaRPr lang="en-US" dirty="0" smtClean="0"/>
          </a:p>
          <a:p>
            <a:pPr marL="514350" indent="254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dirty="0" smtClean="0"/>
              <a:t>The </a:t>
            </a:r>
            <a:r>
              <a:rPr lang="en-US" dirty="0" smtClean="0"/>
              <a:t>Ladders are of Various forms like concept ladder, attribute ladder, composition ladders</a:t>
            </a:r>
            <a:r>
              <a:rPr lang="en-US" b="1" dirty="0" smtClean="0"/>
              <a:t>.</a:t>
            </a:r>
          </a:p>
          <a:p>
            <a:pPr>
              <a:buNone/>
            </a:pPr>
            <a:r>
              <a:rPr lang="en-US" b="1" dirty="0" smtClean="0"/>
              <a:t>■ </a:t>
            </a:r>
            <a:r>
              <a:rPr lang="en-US" b="1" dirty="0" smtClean="0">
                <a:solidFill>
                  <a:srgbClr val="FF0000"/>
                </a:solidFill>
              </a:rPr>
              <a:t>Matrix-based techniques involve the construction of grids 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514350" indent="-66675">
              <a:buFont typeface="+mj-lt"/>
              <a:buAutoNum type="arabicPeriod"/>
            </a:pPr>
            <a:r>
              <a:rPr lang="en-US" dirty="0" smtClean="0"/>
              <a:t> indicating </a:t>
            </a:r>
            <a:r>
              <a:rPr lang="en-US" dirty="0" smtClean="0"/>
              <a:t>such things as problems encountered against possible solutions. </a:t>
            </a:r>
            <a:endParaRPr lang="en-US" dirty="0" smtClean="0"/>
          </a:p>
          <a:p>
            <a:pPr marL="514350" indent="-66675">
              <a:buFont typeface="+mj-lt"/>
              <a:buAutoNum type="arabicPeriod"/>
            </a:pPr>
            <a:r>
              <a:rPr lang="en-US" dirty="0"/>
              <a:t> </a:t>
            </a:r>
            <a:r>
              <a:rPr lang="en-US" dirty="0" smtClean="0"/>
              <a:t>Important </a:t>
            </a:r>
            <a:r>
              <a:rPr lang="en-US" dirty="0" smtClean="0"/>
              <a:t>types include the use of frames for representing the properties of concepts</a:t>
            </a:r>
            <a:endParaRPr lang="en-US" b="1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8674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■ Sorting techniques are used for capturing the way people compare </a:t>
            </a:r>
            <a:r>
              <a:rPr lang="en-US" dirty="0" smtClean="0"/>
              <a:t>and order concepts, and can lead to the disclosure of knowledge about classes, properties and priorities.</a:t>
            </a:r>
          </a:p>
          <a:p>
            <a:pPr>
              <a:buNone/>
            </a:pPr>
            <a:r>
              <a:rPr lang="en-US" b="1" dirty="0" smtClean="0"/>
              <a:t>■ </a:t>
            </a:r>
            <a:r>
              <a:rPr lang="en-US" b="1" dirty="0" smtClean="0">
                <a:solidFill>
                  <a:srgbClr val="FF0000"/>
                </a:solidFill>
              </a:rPr>
              <a:t>Limited-information and constrained-processing tasks </a:t>
            </a:r>
            <a:r>
              <a:rPr lang="en-US" b="1" dirty="0" smtClean="0"/>
              <a:t>are </a:t>
            </a:r>
            <a:r>
              <a:rPr lang="en-US" dirty="0" smtClean="0"/>
              <a:t>techniques that either limit the time and/or information available to the expert when performing tasks. 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For </a:t>
            </a:r>
            <a:r>
              <a:rPr lang="en-US" dirty="0" smtClean="0"/>
              <a:t>instance, the twenty questions</a:t>
            </a:r>
            <a:r>
              <a:rPr lang="en-US" dirty="0"/>
              <a:t> </a:t>
            </a:r>
            <a:r>
              <a:rPr lang="en-US" dirty="0" smtClean="0"/>
              <a:t>technique provides an efficient way of accessing the </a:t>
            </a:r>
            <a:r>
              <a:rPr lang="en-US" dirty="0" smtClean="0"/>
              <a:t>key information </a:t>
            </a:r>
            <a:r>
              <a:rPr lang="en-US" dirty="0" smtClean="0"/>
              <a:t>in a domain in a prioritized order.</a:t>
            </a:r>
          </a:p>
          <a:p>
            <a:pPr>
              <a:buNone/>
            </a:pPr>
            <a:r>
              <a:rPr lang="en-US" b="1" dirty="0" smtClean="0"/>
              <a:t>■ </a:t>
            </a:r>
            <a:r>
              <a:rPr lang="en-US" b="1" dirty="0" smtClean="0">
                <a:solidFill>
                  <a:srgbClr val="FF0000"/>
                </a:solidFill>
              </a:rPr>
              <a:t>Diagram-based techniques include the generation and use of </a:t>
            </a:r>
            <a:r>
              <a:rPr lang="en-US" dirty="0" smtClean="0"/>
              <a:t>concept maps, state transition networks, event diagrams and process maps. 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The </a:t>
            </a:r>
            <a:r>
              <a:rPr lang="en-US" dirty="0" smtClean="0"/>
              <a:t>use of these is particularly important in capturing the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	"what, how, when, who and why" of tasks and events.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Knowledge 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334000"/>
          </a:xfrm>
        </p:spPr>
        <p:txBody>
          <a:bodyPr>
            <a:noAutofit/>
          </a:bodyPr>
          <a:lstStyle/>
          <a:p>
            <a:r>
              <a:rPr lang="en-US" sz="2800" dirty="0"/>
              <a:t>Expert system is built around knowledge base module. It contains the </a:t>
            </a:r>
            <a:r>
              <a:rPr lang="en-US" sz="2800" dirty="0" smtClean="0"/>
              <a:t>formal representation </a:t>
            </a:r>
            <a:r>
              <a:rPr lang="en-US" sz="2800" dirty="0"/>
              <a:t>of the information provided by the domain expert. </a:t>
            </a:r>
            <a:r>
              <a:rPr lang="en-US" sz="2800" dirty="0" smtClean="0"/>
              <a:t>This information </a:t>
            </a:r>
            <a:r>
              <a:rPr lang="en-US" sz="2800" dirty="0"/>
              <a:t>may be in the form of problem-solving rules, procedures, or </a:t>
            </a:r>
            <a:r>
              <a:rPr lang="en-US" sz="2800" dirty="0" smtClean="0"/>
              <a:t>data intrinsic </a:t>
            </a:r>
            <a:r>
              <a:rPr lang="en-US" sz="2800" dirty="0"/>
              <a:t>to the domain. </a:t>
            </a:r>
            <a:endParaRPr lang="en-US" sz="2800" dirty="0" smtClean="0"/>
          </a:p>
          <a:p>
            <a:r>
              <a:rPr lang="en-US" sz="2800" dirty="0" smtClean="0"/>
              <a:t>To </a:t>
            </a:r>
            <a:r>
              <a:rPr lang="en-US" sz="2800" dirty="0"/>
              <a:t>incorporate this information into the system, it </a:t>
            </a:r>
            <a:r>
              <a:rPr lang="en-US" sz="2800" dirty="0" smtClean="0"/>
              <a:t>is necessary </a:t>
            </a:r>
            <a:r>
              <a:rPr lang="en-US" sz="2800" dirty="0"/>
              <a:t>to make use of one or more knowledge representation methods.</a:t>
            </a:r>
          </a:p>
          <a:p>
            <a:r>
              <a:rPr lang="en-US" sz="2800" dirty="0" smtClean="0"/>
              <a:t>Transferring </a:t>
            </a:r>
            <a:r>
              <a:rPr lang="en-US" sz="2800" dirty="0"/>
              <a:t>knowledge from the human expert to a computer is often </a:t>
            </a:r>
            <a:r>
              <a:rPr lang="en-US" sz="2800" dirty="0" smtClean="0"/>
              <a:t>the most </a:t>
            </a:r>
            <a:r>
              <a:rPr lang="en-US" sz="2800" dirty="0"/>
              <a:t>difficult part of building an expert system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knowledge acquired from the human expert must be encoded in such a way that it remains a faithful representation of what the expert knows, and it can be manipulated by a computer.</a:t>
            </a:r>
          </a:p>
          <a:p>
            <a:r>
              <a:rPr lang="en-US" dirty="0" smtClean="0"/>
              <a:t>Three common methods of knowledge representation evolved over the years are IF-THEN rules, semantic networks and frames.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If-Then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>
            <a:normAutofit/>
          </a:bodyPr>
          <a:lstStyle/>
          <a:p>
            <a:r>
              <a:rPr lang="en-US" dirty="0"/>
              <a:t>Human experts usually tend to think along</a:t>
            </a:r>
          </a:p>
          <a:p>
            <a:r>
              <a:rPr lang="fr-FR" dirty="0"/>
              <a:t>condition ⇒ action or Situation ⇒ conclusion</a:t>
            </a:r>
          </a:p>
          <a:p>
            <a:r>
              <a:rPr lang="en-US" dirty="0"/>
              <a:t>Rules "if-then" are predominant form of encoding knowledge in </a:t>
            </a:r>
            <a:r>
              <a:rPr lang="en-US" dirty="0" smtClean="0"/>
              <a:t>expert systems</a:t>
            </a:r>
            <a:r>
              <a:rPr lang="en-US" dirty="0"/>
              <a:t>. These are of the form :</a:t>
            </a:r>
          </a:p>
          <a:p>
            <a:pPr>
              <a:buNone/>
            </a:pPr>
            <a:r>
              <a:rPr lang="en-US" dirty="0" smtClean="0"/>
              <a:t>	If		</a:t>
            </a:r>
            <a:r>
              <a:rPr lang="en-US" i="1" dirty="0" smtClean="0"/>
              <a:t>a1, a2, . . . . . , an</a:t>
            </a:r>
            <a:endParaRPr lang="en-US" dirty="0"/>
          </a:p>
          <a:p>
            <a:pPr>
              <a:buNone/>
            </a:pPr>
            <a:r>
              <a:rPr lang="en-US" dirty="0" smtClean="0"/>
              <a:t>	Then	</a:t>
            </a:r>
            <a:r>
              <a:rPr lang="en-US" i="1" dirty="0" smtClean="0"/>
              <a:t>b1</a:t>
            </a:r>
            <a:r>
              <a:rPr lang="en-US" i="1" dirty="0"/>
              <a:t>, b2, . . . . . , </a:t>
            </a:r>
            <a:r>
              <a:rPr lang="en-US" i="1" dirty="0" err="1"/>
              <a:t>bn</a:t>
            </a:r>
            <a:endParaRPr lang="en-US" i="1" dirty="0"/>
          </a:p>
          <a:p>
            <a:r>
              <a:rPr lang="en-US" dirty="0"/>
              <a:t>where each </a:t>
            </a:r>
            <a:r>
              <a:rPr lang="en-US" b="1" i="1" dirty="0" smtClean="0">
                <a:solidFill>
                  <a:srgbClr val="FF0000"/>
                </a:solidFill>
              </a:rPr>
              <a:t>“</a:t>
            </a:r>
            <a:r>
              <a:rPr lang="en-US" b="1" i="1" dirty="0" err="1" smtClean="0">
                <a:solidFill>
                  <a:srgbClr val="FF0000"/>
                </a:solidFill>
              </a:rPr>
              <a:t>a</a:t>
            </a:r>
            <a:r>
              <a:rPr lang="en-US" sz="2800" b="1" i="1" dirty="0" err="1" smtClean="0">
                <a:solidFill>
                  <a:srgbClr val="FF0000"/>
                </a:solidFill>
              </a:rPr>
              <a:t>i</a:t>
            </a:r>
            <a:r>
              <a:rPr lang="en-US" b="1" i="1" dirty="0" smtClean="0">
                <a:solidFill>
                  <a:srgbClr val="FF0000"/>
                </a:solidFill>
              </a:rPr>
              <a:t>” </a:t>
            </a:r>
            <a:r>
              <a:rPr lang="en-US" b="1" i="1" dirty="0"/>
              <a:t>is a condition or situation, and each </a:t>
            </a:r>
            <a:r>
              <a:rPr lang="en-US" b="1" i="1" dirty="0" smtClean="0">
                <a:solidFill>
                  <a:srgbClr val="FF0000"/>
                </a:solidFill>
              </a:rPr>
              <a:t>“bi” </a:t>
            </a:r>
            <a:r>
              <a:rPr lang="en-US" b="1" i="1" dirty="0"/>
              <a:t>is an action </a:t>
            </a:r>
            <a:r>
              <a:rPr lang="en-US" b="1" i="1" dirty="0" smtClean="0"/>
              <a:t>or </a:t>
            </a:r>
            <a:r>
              <a:rPr lang="en-US" dirty="0" smtClean="0"/>
              <a:t>a </a:t>
            </a:r>
            <a:r>
              <a:rPr lang="en-US" dirty="0"/>
              <a:t>conclusion.</a:t>
            </a:r>
          </a:p>
          <a:p>
            <a:pPr>
              <a:buNone/>
            </a:pPr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792162"/>
          </a:xfrm>
        </p:spPr>
        <p:txBody>
          <a:bodyPr/>
          <a:lstStyle/>
          <a:p>
            <a:r>
              <a:rPr lang="en-US" b="1" dirty="0"/>
              <a:t>Semantic networks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1638301" y="-419098"/>
            <a:ext cx="5867399" cy="8229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>
            <a:normAutofit/>
          </a:bodyPr>
          <a:lstStyle/>
          <a:p>
            <a:r>
              <a:rPr lang="en-US" dirty="0" smtClean="0"/>
              <a:t>Frames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1638301" y="-571499"/>
            <a:ext cx="6019798" cy="868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b="1" dirty="0"/>
              <a:t>Working Memory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sz="3600" dirty="0"/>
              <a:t>Working memory refers to task-specific data for a problem. The contents </a:t>
            </a:r>
            <a:r>
              <a:rPr lang="en-US" sz="3600" dirty="0" smtClean="0"/>
              <a:t>of the </a:t>
            </a:r>
            <a:r>
              <a:rPr lang="en-US" sz="3600" dirty="0"/>
              <a:t>working memory, changes with each problem situation. </a:t>
            </a:r>
            <a:endParaRPr lang="en-US" sz="3600" dirty="0" smtClean="0"/>
          </a:p>
          <a:p>
            <a:r>
              <a:rPr lang="en-US" sz="3600" dirty="0" smtClean="0"/>
              <a:t>Consequently</a:t>
            </a:r>
            <a:r>
              <a:rPr lang="en-US" sz="3600" dirty="0"/>
              <a:t>, </a:t>
            </a:r>
            <a:r>
              <a:rPr lang="en-US" sz="3600" dirty="0" smtClean="0"/>
              <a:t>it is </a:t>
            </a:r>
            <a:r>
              <a:rPr lang="en-US" sz="3600" dirty="0"/>
              <a:t>the most dynamic component of an expert system, assuming that it is </a:t>
            </a:r>
            <a:r>
              <a:rPr lang="en-US" sz="3600" dirty="0" smtClean="0"/>
              <a:t>kept current</a:t>
            </a:r>
            <a:r>
              <a:rPr lang="en-US" sz="3600" dirty="0"/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Every problem in a domain has some unique data associated with it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Data </a:t>
            </a:r>
            <a:r>
              <a:rPr lang="en-US" b="1" dirty="0"/>
              <a:t>may consist of the set of conditions leading up to the problem, its </a:t>
            </a:r>
            <a:r>
              <a:rPr lang="en-US" b="1" dirty="0" smtClean="0"/>
              <a:t>parameters </a:t>
            </a:r>
            <a:r>
              <a:rPr lang="en-US" dirty="0" smtClean="0"/>
              <a:t>and </a:t>
            </a:r>
            <a:r>
              <a:rPr lang="en-US" dirty="0"/>
              <a:t>so on.</a:t>
            </a:r>
          </a:p>
          <a:p>
            <a:r>
              <a:rPr lang="en-US" b="1" dirty="0" smtClean="0"/>
              <a:t>Data </a:t>
            </a:r>
            <a:r>
              <a:rPr lang="en-US" b="1" dirty="0"/>
              <a:t>specific to the problem needs to be input by the user at the time of </a:t>
            </a:r>
            <a:r>
              <a:rPr lang="en-US" b="1" dirty="0" smtClean="0"/>
              <a:t>consulting </a:t>
            </a:r>
            <a:r>
              <a:rPr lang="en-US" dirty="0" smtClean="0"/>
              <a:t>the </a:t>
            </a:r>
            <a:r>
              <a:rPr lang="en-US" dirty="0"/>
              <a:t>expert system</a:t>
            </a:r>
            <a:r>
              <a:rPr lang="en-US" dirty="0" smtClean="0"/>
              <a:t>.</a:t>
            </a:r>
            <a:endParaRPr lang="en-US" b="1" dirty="0"/>
          </a:p>
          <a:p>
            <a:r>
              <a:rPr lang="en-US" dirty="0" smtClean="0"/>
              <a:t>Next Figure shows </a:t>
            </a:r>
            <a:r>
              <a:rPr lang="en-US" dirty="0"/>
              <a:t>how Working memory is closely related to user interface of </a:t>
            </a:r>
            <a:r>
              <a:rPr lang="en-US" dirty="0" smtClean="0"/>
              <a:t>the expert </a:t>
            </a:r>
            <a:r>
              <a:rPr lang="en-US" dirty="0"/>
              <a:t>system.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1562100" y="647700"/>
            <a:ext cx="5867400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139905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Inference Engine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/>
          </a:bodyPr>
          <a:lstStyle/>
          <a:p>
            <a:r>
              <a:rPr lang="en-US" sz="3600" dirty="0"/>
              <a:t>It is generic control mechanism for navigating through and </a:t>
            </a:r>
            <a:r>
              <a:rPr lang="en-US" sz="3600" dirty="0" smtClean="0"/>
              <a:t>manipulating knowledge </a:t>
            </a:r>
            <a:r>
              <a:rPr lang="en-US" sz="3600" dirty="0"/>
              <a:t>and deduce results in an organized manner.</a:t>
            </a:r>
          </a:p>
          <a:p>
            <a:r>
              <a:rPr lang="en-US" sz="3600" dirty="0"/>
              <a:t>Forward chaining, Backward chaining and Tree searches are some </a:t>
            </a:r>
            <a:r>
              <a:rPr lang="en-US" sz="3600" dirty="0" smtClean="0"/>
              <a:t>techniques for </a:t>
            </a:r>
            <a:r>
              <a:rPr lang="en-US" sz="3600" dirty="0"/>
              <a:t>drawing inferences from knowledge base</a:t>
            </a:r>
            <a:r>
              <a:rPr lang="en-US" sz="3600" dirty="0" smtClean="0"/>
              <a:t>.</a:t>
            </a:r>
            <a:endParaRPr lang="en-US" sz="3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b="1" dirty="0"/>
              <a:t>Expert System Shells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en-US" sz="3600" dirty="0"/>
              <a:t>An Expert system shell is a software development environment. It contains the </a:t>
            </a:r>
            <a:r>
              <a:rPr lang="en-US" sz="3600" dirty="0" smtClean="0"/>
              <a:t>basic components </a:t>
            </a:r>
            <a:r>
              <a:rPr lang="en-US" sz="3600" dirty="0"/>
              <a:t>of expert systems</a:t>
            </a:r>
            <a:r>
              <a:rPr lang="en-US" sz="3600" dirty="0" smtClean="0"/>
              <a:t>.</a:t>
            </a:r>
          </a:p>
          <a:p>
            <a:r>
              <a:rPr lang="en-US" sz="3600" dirty="0" smtClean="0"/>
              <a:t> </a:t>
            </a:r>
            <a:r>
              <a:rPr lang="en-US" sz="3600" dirty="0"/>
              <a:t>A shell is associated with a prescribed method </a:t>
            </a:r>
            <a:r>
              <a:rPr lang="en-US" sz="3600" dirty="0" smtClean="0"/>
              <a:t>for building </a:t>
            </a:r>
            <a:r>
              <a:rPr lang="en-US" sz="3600" dirty="0"/>
              <a:t>applications by configuring and instantiating these components.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Condd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752600"/>
            <a:ext cx="8534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2FC888FE33A349B41D4CD90A81AD87" ma:contentTypeVersion="4" ma:contentTypeDescription="Create a new document." ma:contentTypeScope="" ma:versionID="b5f7efc47b52f4b913bd131a4df389df">
  <xsd:schema xmlns:xsd="http://www.w3.org/2001/XMLSchema" xmlns:xs="http://www.w3.org/2001/XMLSchema" xmlns:p="http://schemas.microsoft.com/office/2006/metadata/properties" xmlns:ns2="e4f7efb8-cb7e-43b6-9b90-b807d6450c17" targetNamespace="http://schemas.microsoft.com/office/2006/metadata/properties" ma:root="true" ma:fieldsID="2836af00a7e6d42234487084ab7110db" ns2:_="">
    <xsd:import namespace="e4f7efb8-cb7e-43b6-9b90-b807d6450c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f7efb8-cb7e-43b6-9b90-b807d6450c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E6E39B5-4EA4-4F55-AFD7-C218835BE5D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840F9F6-FD43-401B-B43D-EF5E231A7B9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305FB7-4E5F-4ABD-A2FF-83822D7622EF}"/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1911</Words>
  <Application>Microsoft Office PowerPoint</Application>
  <PresentationFormat>On-screen Show (4:3)</PresentationFormat>
  <Paragraphs>169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Expert System</vt:lpstr>
      <vt:lpstr>outline</vt:lpstr>
      <vt:lpstr>Introduction</vt:lpstr>
      <vt:lpstr>Cond…</vt:lpstr>
      <vt:lpstr>Cond…</vt:lpstr>
      <vt:lpstr>PowerPoint Presentation</vt:lpstr>
      <vt:lpstr>Components and Interfaces</vt:lpstr>
      <vt:lpstr>Roles of individuals who interact with the system</vt:lpstr>
      <vt:lpstr>Expert system shells</vt:lpstr>
      <vt:lpstr>Contd…</vt:lpstr>
      <vt:lpstr>Expert system Characteristics</vt:lpstr>
      <vt:lpstr>Contd…</vt:lpstr>
      <vt:lpstr>Contd…</vt:lpstr>
      <vt:lpstr>Contd…</vt:lpstr>
      <vt:lpstr>Contd…</vt:lpstr>
      <vt:lpstr>Expert System Features</vt:lpstr>
      <vt:lpstr>Contd…</vt:lpstr>
      <vt:lpstr>Goal-Driven Reasoning</vt:lpstr>
      <vt:lpstr>Contd…</vt:lpstr>
      <vt:lpstr>Data Driven Reasoning</vt:lpstr>
      <vt:lpstr>Knowledge Acquisition</vt:lpstr>
      <vt:lpstr> Issues in Knowledge Acquisition </vt:lpstr>
      <vt:lpstr>Techniques for Knowledge Acquisition</vt:lpstr>
      <vt:lpstr>contd…</vt:lpstr>
      <vt:lpstr>Contd…</vt:lpstr>
      <vt:lpstr>Knowledge Base</vt:lpstr>
      <vt:lpstr>Contd…</vt:lpstr>
      <vt:lpstr>If-Then rules</vt:lpstr>
      <vt:lpstr>Semantic networks</vt:lpstr>
      <vt:lpstr>Frames</vt:lpstr>
      <vt:lpstr>Working Memory</vt:lpstr>
      <vt:lpstr>Contd…</vt:lpstr>
      <vt:lpstr>Contd…</vt:lpstr>
      <vt:lpstr>Inference Engine</vt:lpstr>
      <vt:lpstr>Expert System Shells</vt:lpstr>
      <vt:lpstr>Condd…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Expert System</dc:title>
  <dc:creator>pravin.srinath</dc:creator>
  <cp:lastModifiedBy>Pravin Shrinath (Dr.)</cp:lastModifiedBy>
  <cp:revision>37</cp:revision>
  <dcterms:created xsi:type="dcterms:W3CDTF">2014-11-17T07:20:27Z</dcterms:created>
  <dcterms:modified xsi:type="dcterms:W3CDTF">2025-04-05T04:18:18Z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0x010100B22FC888FE33A349B41D4CD90A81AD87</vt:lpwstr>
  </property>
</Properties>
</file>